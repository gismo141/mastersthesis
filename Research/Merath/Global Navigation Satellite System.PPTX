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90" r:id="rId5"/>
    <p:sldId id="259" r:id="rId6"/>
    <p:sldId id="266" r:id="rId7"/>
    <p:sldId id="267" r:id="rId8"/>
    <p:sldId id="268" r:id="rId9"/>
    <p:sldId id="264" r:id="rId10"/>
    <p:sldId id="269" r:id="rId11"/>
    <p:sldId id="272" r:id="rId12"/>
    <p:sldId id="270" r:id="rId13"/>
    <p:sldId id="271" r:id="rId14"/>
    <p:sldId id="273" r:id="rId15"/>
    <p:sldId id="274" r:id="rId16"/>
    <p:sldId id="276" r:id="rId17"/>
    <p:sldId id="275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96" r:id="rId27"/>
    <p:sldId id="292" r:id="rId28"/>
    <p:sldId id="294" r:id="rId29"/>
    <p:sldId id="287" r:id="rId30"/>
    <p:sldId id="288" r:id="rId31"/>
    <p:sldId id="265" r:id="rId32"/>
    <p:sldId id="295" r:id="rId33"/>
  </p:sldIdLst>
  <p:sldSz cx="9144000" cy="6858000" type="screen4x3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026"/>
    <a:srgbClr val="FF7C23"/>
    <a:srgbClr val="FF74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27" autoAdjust="0"/>
    <p:restoredTop sz="82598" autoAdjust="0"/>
  </p:normalViewPr>
  <p:slideViewPr>
    <p:cSldViewPr>
      <p:cViewPr varScale="1">
        <p:scale>
          <a:sx n="93" d="100"/>
          <a:sy n="93" d="100"/>
        </p:scale>
        <p:origin x="1134" y="66"/>
      </p:cViewPr>
      <p:guideLst>
        <p:guide orient="horz" pos="2160"/>
        <p:guide pos="2880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BA473F-316D-4703-8563-D748748E8666}" type="datetimeFigureOut">
              <a:rPr lang="de-DE" smtClean="0"/>
              <a:t>02.12.2014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C1F5D-AA1A-4F52-AA18-5C0644BEB1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7399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80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7581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aseline="0" dirty="0" smtClean="0"/>
              <a:t>GLONASS: </a:t>
            </a:r>
            <a:r>
              <a:rPr lang="de-DE" dirty="0" smtClean="0"/>
              <a:t>Ausfall nach 3 Jahren und wieder Inbetriebnahme</a:t>
            </a:r>
            <a:r>
              <a:rPr lang="de-DE" baseline="0" dirty="0" smtClean="0"/>
              <a:t> 2011, 24 Satelliten</a:t>
            </a:r>
            <a:endParaRPr lang="de-DE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 err="1" smtClean="0"/>
              <a:t>BeiDou</a:t>
            </a:r>
            <a:r>
              <a:rPr lang="de-DE" dirty="0" smtClean="0"/>
              <a:t>: Derzeit nur Asien, Weiterer Internationaler Ausbau, derzeit 21 Satelliten,</a:t>
            </a:r>
            <a:r>
              <a:rPr lang="de-DE" baseline="0" dirty="0" smtClean="0"/>
              <a:t> bis 2020 35 Stück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 smtClean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338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 smtClean="0"/>
              <a:t>Genauigkeit: 10 Meter</a:t>
            </a:r>
          </a:p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Differential-GPS/DGPS (Referenzempfängers): Verbesserung der Genauigkeit im cm Bereich</a:t>
            </a:r>
          </a:p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SBAS (Korrekturdaten über geostationäre Satelliten): Genauigkeit von einem Meter</a:t>
            </a:r>
          </a:p>
          <a:p>
            <a:endParaRPr lang="de-DE" sz="1200" b="0" i="0" u="none" strike="noStrike" kern="1200" baseline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5493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Laufzeit = Stoppzeit – Startzeit</a:t>
            </a:r>
          </a:p>
          <a:p>
            <a:r>
              <a:rPr lang="de-DE" dirty="0" smtClean="0"/>
              <a:t>Entfernung</a:t>
            </a:r>
            <a:r>
              <a:rPr lang="de-DE" baseline="0" dirty="0" smtClean="0"/>
              <a:t> = Laufzeit * Schallgeschwindigkeit (ca.330m/s)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7243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izenplatzhal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de-DE" sz="1200" b="0" dirty="0" smtClean="0">
                    <a:ea typeface="Cambria Math" panose="02040503050406030204" pitchFamily="18" charset="0"/>
                    <a:cs typeface="Arial" panose="020B0604020202020204" pitchFamily="34" charset="0"/>
                  </a:rPr>
                  <a:t>R = </a:t>
                </a:r>
                <a14:m>
                  <m:oMath xmlns:m="http://schemas.openxmlformats.org/officeDocument/2006/math">
                    <m:r>
                      <a:rPr lang="de-DE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∆</m:t>
                    </m:r>
                    <m:r>
                      <a:rPr lang="de-DE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de-DE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∗</m:t>
                    </m:r>
                    <m:r>
                      <a:rPr lang="de-DE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𝐶</m:t>
                    </m:r>
                    <m:r>
                      <a:rPr lang="de-DE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(300000</m:t>
                    </m:r>
                    <m:r>
                      <a:rPr lang="de-DE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𝑘𝑚</m:t>
                    </m:r>
                    <m:r>
                      <a:rPr lang="de-DE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de-DE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  <m:r>
                      <a:rPr lang="de-DE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de-DE" sz="12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de-DE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Da </a:t>
                </a:r>
                <a:r>
                  <a:rPr lang="de-DE" sz="12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Borduhr</a:t>
                </a:r>
                <a:r>
                  <a:rPr lang="de-DE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nicht absolut genau mit der Zeit des Senders übereinstimmt, resultiert bei der Entfernungsbestimmung eine Abweichung vom Realwert.</a:t>
                </a:r>
              </a:p>
              <a:p>
                <a:r>
                  <a:rPr lang="de-DE" sz="1200" b="0" i="0" u="none" strike="noStrike" kern="1200" baseline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z. B. einer Mikrosekunde </a:t>
                </a:r>
                <a:endParaRPr lang="de-DE" sz="12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Notizenplatzhal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de-DE" sz="1200" b="0" dirty="0" smtClean="0">
                    <a:ea typeface="Cambria Math" panose="02040503050406030204" pitchFamily="18" charset="0"/>
                    <a:cs typeface="Arial" panose="020B0604020202020204" pitchFamily="34" charset="0"/>
                  </a:rPr>
                  <a:t>R = </a:t>
                </a:r>
                <a:r>
                  <a:rPr lang="de-DE" sz="1200" b="0" i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∆𝑡 ∗𝐶 (300000𝑘𝑚/𝑠)</a:t>
                </a:r>
                <a:endParaRPr lang="de-DE" sz="12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:r>
                  <a:rPr lang="de-DE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Da </a:t>
                </a:r>
                <a:r>
                  <a:rPr lang="de-DE" sz="12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Borduhr</a:t>
                </a:r>
                <a:r>
                  <a:rPr lang="de-DE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nicht absolut genau mit der Zeit des Senders übereinstimmt, resultiert bei der Entfernungsbestimmung eine Abweichung vom Realwert.</a:t>
                </a:r>
              </a:p>
              <a:p>
                <a:pPr/>
                <a:r>
                  <a:rPr lang="de-DE" sz="1200" b="0" i="0" u="none" strike="noStrike" kern="1200" baseline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z. B. einer Mikrosekunde </a:t>
                </a:r>
                <a:endParaRPr lang="de-DE" sz="12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3051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izenplatzhal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de-DE" sz="1200" b="0" dirty="0" smtClean="0">
                    <a:ea typeface="Cambria Math" panose="02040503050406030204" pitchFamily="18" charset="0"/>
                    <a:cs typeface="Arial" panose="020B0604020202020204" pitchFamily="34" charset="0"/>
                  </a:rPr>
                  <a:t>R = (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∆</m:t>
                            </m:r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1−∆</m:t>
                            </m:r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e>
                        </m:d>
                        <m:r>
                          <a:rPr lang="de-DE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  <m:r>
                          <a:rPr lang="de-DE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</m:d>
                    <m:d>
                      <m:dPr>
                        <m:ctrlPr>
                          <a:rPr lang="de-DE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300000</m:t>
                            </m:r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𝑘𝑚</m:t>
                            </m:r>
                          </m:num>
                          <m:den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𝑠</m:t>
                            </m:r>
                          </m:den>
                        </m:f>
                      </m:e>
                    </m:d>
                    <m:r>
                      <a:rPr lang="de-DE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+1)/2</m:t>
                    </m:r>
                  </m:oMath>
                </a14:m>
                <a:endParaRPr lang="de-DE" sz="12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de-DE" sz="1200" b="0" i="0" u="none" strike="noStrike" kern="1200" baseline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Um die Position (und die Zeit) auf einer Geraden (eine Gerade hat eine Ausbreitung in eine Dimension) exakt zu bestimmen, braucht es demnach zwei Zeitsender. </a:t>
                </a:r>
              </a:p>
              <a:p>
                <a:pPr marL="171450" indent="-171450">
                  <a:buFontTx/>
                  <a:buChar char="-"/>
                </a:pPr>
                <a:r>
                  <a:rPr lang="de-DE" sz="1200" b="0" i="0" u="none" strike="noStrike" kern="1200" baseline="0" dirty="0" err="1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unsynchronisierte</a:t>
                </a:r>
                <a:r>
                  <a:rPr lang="de-DE" sz="1200" b="0" i="0" u="none" strike="noStrike" kern="1200" baseline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Empfänger-Uhren verwendet -&gt; muss die Anzahl der Zeitsender um Eins grösser sein, als die Anzahl der unbekannten Dimensionen. </a:t>
                </a:r>
              </a:p>
              <a:p>
                <a:pPr marL="171450" indent="-171450">
                  <a:buFontTx/>
                  <a:buChar char="-"/>
                </a:pPr>
                <a:r>
                  <a:rPr lang="de-DE" sz="1200" b="0" i="0" u="none" strike="noStrike" kern="1200" baseline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In einer Ebene (Ausbreitung in zwei Dimensionen) brauchen wir drei Zeitsender</a:t>
                </a:r>
              </a:p>
              <a:p>
                <a:pPr marL="171450" indent="-171450">
                  <a:buFontTx/>
                  <a:buChar char="-"/>
                </a:pPr>
                <a:r>
                  <a:rPr lang="de-DE" sz="1200" b="0" i="0" u="none" strike="noStrike" kern="1200" baseline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Im Raum (Ausbreitung in drei Dimensionen) brauchen wir vier Zeitsender</a:t>
                </a:r>
              </a:p>
              <a:p>
                <a:pPr marL="171450" indent="-171450">
                  <a:buFontTx/>
                  <a:buChar char="-"/>
                </a:pPr>
                <a:r>
                  <a:rPr lang="de-DE" sz="1200" b="0" i="0" u="none" strike="noStrike" kern="1200" baseline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Satellitennavigationssysteme  vier Satelliten für Länge, Breite, Höhe und absolute Zeit </a:t>
                </a:r>
              </a:p>
              <a:p>
                <a:pPr marL="171450" indent="-171450">
                  <a:buFontTx/>
                  <a:buChar char="-"/>
                </a:pPr>
                <a:endParaRPr lang="de-DE" sz="1200" b="0" i="0" u="none" strike="noStrike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marL="171450" indent="-171450">
                  <a:buFontTx/>
                  <a:buChar char="-"/>
                </a:pPr>
                <a:endParaRPr lang="de-DE" sz="12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Notizenplatzhal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de-DE" sz="1200" b="0" dirty="0" smtClean="0">
                    <a:ea typeface="Cambria Math" panose="02040503050406030204" pitchFamily="18" charset="0"/>
                    <a:cs typeface="Arial" panose="020B0604020202020204" pitchFamily="34" charset="0"/>
                  </a:rPr>
                  <a:t>R = (</a:t>
                </a:r>
                <a:r>
                  <a:rPr lang="de-DE" sz="1200" b="0" i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((∆𝑡1−∆𝑡2)∗𝐶)(300000𝑘𝑚/𝑠)+1)/2</a:t>
                </a:r>
                <a:endParaRPr lang="de-DE" sz="12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:r>
                  <a:rPr lang="de-DE" sz="1200" b="0" i="0" u="none" strike="noStrike" kern="1200" baseline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Um die Position (und die Zeit) auf einer Geraden (eine Gerade hat eine Ausbreitung in eine Dimension) exakt zu bestimmen, braucht es demnach zwei Zeitsender. </a:t>
                </a:r>
              </a:p>
              <a:p>
                <a:pPr marL="171450" indent="-171450">
                  <a:buFontTx/>
                  <a:buChar char="-"/>
                </a:pPr>
                <a:r>
                  <a:rPr lang="de-DE" sz="1200" b="0" i="0" u="none" strike="noStrike" kern="1200" baseline="0" dirty="0" err="1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unsynchronisierte</a:t>
                </a:r>
                <a:r>
                  <a:rPr lang="de-DE" sz="1200" b="0" i="0" u="none" strike="noStrike" kern="1200" baseline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Empfänger-Uhren verwendet -&gt; muss die Anzahl der Zeitsender um Eins grösser sein, als die Anzahl der unbekannten Dimensionen. </a:t>
                </a:r>
              </a:p>
              <a:p>
                <a:pPr marL="171450" indent="-171450">
                  <a:buFontTx/>
                  <a:buChar char="-"/>
                </a:pPr>
                <a:r>
                  <a:rPr lang="de-DE" sz="1200" b="0" i="0" u="none" strike="noStrike" kern="1200" baseline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In einer Ebene (Ausbreitung in zwei Dimensionen) brauchen wir drei Zeitsender</a:t>
                </a:r>
              </a:p>
              <a:p>
                <a:pPr marL="171450" indent="-171450">
                  <a:buFontTx/>
                  <a:buChar char="-"/>
                </a:pPr>
                <a:r>
                  <a:rPr lang="de-DE" sz="1200" b="0" i="0" u="none" strike="noStrike" kern="1200" baseline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Im Raum (Ausbreitung in drei Dimensionen) brauchen wir vier Zeitsender</a:t>
                </a:r>
              </a:p>
              <a:p>
                <a:pPr marL="171450" indent="-171450">
                  <a:buFontTx/>
                  <a:buChar char="-"/>
                </a:pPr>
                <a:r>
                  <a:rPr lang="de-DE" sz="1200" b="0" i="0" u="none" strike="noStrike" kern="1200" baseline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Satellitennavigationssysteme  vier Satelliten für Länge, Breite, Höhe und absolute Zeit </a:t>
                </a:r>
              </a:p>
              <a:p>
                <a:pPr marL="171450" indent="-171450">
                  <a:buFontTx/>
                  <a:buChar char="-"/>
                </a:pPr>
                <a:endParaRPr lang="de-DE" sz="1200" b="0" i="0" u="none" strike="noStrike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marL="171450" indent="-171450">
                  <a:buFontTx/>
                  <a:buChar char="-"/>
                </a:pPr>
                <a:endParaRPr lang="de-DE" sz="12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7790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9201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6275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9723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= Laufvariable für Satellitennummerierung</a:t>
            </a:r>
          </a:p>
          <a:p>
            <a:r>
              <a:rPr lang="de-DE" sz="1200" b="0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</a:t>
            </a:r>
            <a:r>
              <a:rPr lang="de-DE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Pseudoentfernungen (pseudo </a:t>
            </a:r>
            <a:r>
              <a:rPr lang="de-DE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ranges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de-DE" sz="1200" b="0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xp</a:t>
            </a:r>
            <a:r>
              <a:rPr lang="de-DE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de-DE" sz="1200" b="0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yp</a:t>
            </a:r>
            <a:r>
              <a:rPr lang="de-DE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de-DE" sz="1200" b="0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zp</a:t>
            </a:r>
            <a:r>
              <a:rPr lang="de-DE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Koordinaten des zu bestimmenden Ortes des Nutzers</a:t>
            </a:r>
          </a:p>
          <a:p>
            <a:r>
              <a:rPr lang="de-DE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xi, </a:t>
            </a:r>
            <a:r>
              <a:rPr lang="de-DE" sz="1200" b="0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yi</a:t>
            </a:r>
            <a:r>
              <a:rPr lang="de-DE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de-DE" sz="1200" b="0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</a:t>
            </a:r>
            <a:r>
              <a:rPr lang="de-DE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Koordinaten des Satelliten</a:t>
            </a:r>
          </a:p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 Zeitabweichung der Uhrzeit des Nutzers</a:t>
            </a:r>
          </a:p>
          <a:p>
            <a:r>
              <a:rPr lang="de-DE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ei 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zusätzliche Fehler im System</a:t>
            </a:r>
          </a:p>
          <a:p>
            <a:r>
              <a:rPr lang="de-DE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 Lichtgeschwindigkeit (299792458 m/s)</a:t>
            </a:r>
          </a:p>
          <a:p>
            <a:r>
              <a:rPr lang="de-DE" sz="1200" b="0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</a:t>
            </a:r>
            <a:r>
              <a:rPr lang="de-DE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 </a:t>
            </a:r>
            <a:r>
              <a:rPr lang="de-DE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 · </a:t>
            </a:r>
            <a:r>
              <a:rPr lang="de-DE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44012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42625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24 Satelliten in 20200 km Höhe geplant</a:t>
            </a:r>
          </a:p>
          <a:p>
            <a:r>
              <a:rPr lang="de-DE" dirty="0" smtClean="0"/>
              <a:t>Seit 2011 wird dieses System mit 30 Satelliten betrieben</a:t>
            </a:r>
          </a:p>
          <a:p>
            <a:r>
              <a:rPr lang="de-DE" dirty="0" smtClean="0"/>
              <a:t>27</a:t>
            </a:r>
            <a:r>
              <a:rPr lang="de-DE" baseline="0" dirty="0" smtClean="0"/>
              <a:t> der 30 Satelliten sind aktiv und 3 als Reserve aktivierbar</a:t>
            </a:r>
          </a:p>
          <a:p>
            <a:r>
              <a:rPr lang="de-DE" baseline="0" dirty="0" smtClean="0"/>
              <a:t>Begrenzte Lebensdauer (7 – 12 Jahre) </a:t>
            </a:r>
            <a:r>
              <a:rPr lang="de-DE" baseline="0" dirty="0" smtClean="0">
                <a:sym typeface="Wingdings" panose="05000000000000000000" pitchFamily="2" charset="2"/>
              </a:rPr>
              <a:t> neuste Generation ab 2016 15 Jahre</a:t>
            </a:r>
            <a:endParaRPr lang="de-DE" baseline="0" dirty="0" smtClean="0"/>
          </a:p>
          <a:p>
            <a:r>
              <a:rPr lang="de-DE" baseline="0" dirty="0" smtClean="0"/>
              <a:t>Neueste Generation besitzt zwei Rubidium </a:t>
            </a:r>
            <a:r>
              <a:rPr lang="de-DE" dirty="0" smtClean="0"/>
              <a:t>(1 Sekunde Abweichung in 300000</a:t>
            </a:r>
            <a:r>
              <a:rPr lang="de-DE" baseline="0" dirty="0" smtClean="0"/>
              <a:t> </a:t>
            </a:r>
            <a:r>
              <a:rPr lang="de-DE" dirty="0" smtClean="0"/>
              <a:t>Jahren)</a:t>
            </a:r>
            <a:r>
              <a:rPr lang="de-DE" baseline="0" dirty="0" smtClean="0"/>
              <a:t> und eine Cäsium Atomuhr </a:t>
            </a:r>
            <a:r>
              <a:rPr lang="de-DE" dirty="0" smtClean="0"/>
              <a:t>(1 Sekunde Abweichung in 30 Mio. Jahren)</a:t>
            </a:r>
            <a:r>
              <a:rPr lang="de-DE" baseline="0" dirty="0" smtClean="0"/>
              <a:t> (Galileo </a:t>
            </a:r>
            <a:r>
              <a:rPr lang="de-DE" dirty="0" smtClean="0"/>
              <a:t>„Wasserstoff-Maser-Uhren“)</a:t>
            </a:r>
          </a:p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ca. 1/3 </a:t>
            </a:r>
            <a:r>
              <a:rPr lang="de-DE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der Erdoberfläche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0591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50 Bit pro Sekunde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74012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f0 = 10,23 MHz</a:t>
            </a:r>
            <a:endParaRPr lang="de-DE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58981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Pseudo Random Noise (PRN) (C/A-Code) - </a:t>
            </a:r>
            <a:r>
              <a:rPr lang="de-DE" dirty="0" smtClean="0"/>
              <a:t>Codephasenverschiebung zwischen den beiden Generatoren erreicht</a:t>
            </a:r>
            <a:endParaRPr lang="de-DE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Militärisch (P/Y-Code)</a:t>
            </a:r>
          </a:p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Das Muster mit einer Länge von einer Millisekunde wird ständig wiederholt und dient dem Empfänger zu zwei Zwecken: </a:t>
            </a:r>
          </a:p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Identifikation: anhand der einmaligen Struktur des Musters weiß der Empfänger, von welchem Satelliten dieses Signal stammt. </a:t>
            </a:r>
          </a:p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Laufzeitmessung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39841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07955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76927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6252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 err="1" smtClean="0"/>
              <a:t>Eccentricity</a:t>
            </a:r>
            <a:r>
              <a:rPr lang="de-DE" b="1" dirty="0" smtClean="0"/>
              <a:t> : </a:t>
            </a:r>
            <a:r>
              <a:rPr lang="de-DE" dirty="0" smtClean="0"/>
              <a:t>Betrag der Abweichung von der Kreisumlaufbahn( Orbit )</a:t>
            </a:r>
          </a:p>
          <a:p>
            <a:r>
              <a:rPr lang="de-DE" b="1" dirty="0" smtClean="0"/>
              <a:t>Orbital </a:t>
            </a:r>
            <a:r>
              <a:rPr lang="de-DE" b="1" dirty="0" err="1" smtClean="0"/>
              <a:t>Inclination</a:t>
            </a:r>
            <a:r>
              <a:rPr lang="de-DE" b="1" dirty="0" smtClean="0"/>
              <a:t> : </a:t>
            </a:r>
            <a:r>
              <a:rPr lang="de-DE" dirty="0" smtClean="0"/>
              <a:t>Der Winkel wie der SV den Äquator trifft</a:t>
            </a:r>
          </a:p>
          <a:p>
            <a:r>
              <a:rPr lang="de-DE" b="1" dirty="0" smtClean="0"/>
              <a:t>Rate </a:t>
            </a:r>
            <a:r>
              <a:rPr lang="de-DE" b="1" dirty="0" err="1" smtClean="0"/>
              <a:t>of</a:t>
            </a:r>
            <a:r>
              <a:rPr lang="de-DE" b="1" dirty="0" smtClean="0"/>
              <a:t> </a:t>
            </a:r>
            <a:r>
              <a:rPr lang="de-DE" b="1" dirty="0" err="1" smtClean="0"/>
              <a:t>Right</a:t>
            </a:r>
            <a:r>
              <a:rPr lang="de-DE" b="1" dirty="0" smtClean="0"/>
              <a:t> Ascension :</a:t>
            </a:r>
            <a:r>
              <a:rPr lang="de-DE" b="0" dirty="0" smtClean="0"/>
              <a:t> Änderungsrate des Winkels </a:t>
            </a:r>
          </a:p>
          <a:p>
            <a:r>
              <a:rPr lang="de-DE" b="1" dirty="0" smtClean="0"/>
              <a:t>SQRT : </a:t>
            </a:r>
            <a:r>
              <a:rPr lang="de-DE" b="0" dirty="0" smtClean="0"/>
              <a:t>Mittelpunkt der Kreisbahn</a:t>
            </a:r>
          </a:p>
          <a:p>
            <a:r>
              <a:rPr lang="de-DE" b="1" dirty="0" smtClean="0"/>
              <a:t>Argument </a:t>
            </a:r>
            <a:r>
              <a:rPr lang="de-DE" b="1" dirty="0" err="1" smtClean="0"/>
              <a:t>of</a:t>
            </a:r>
            <a:r>
              <a:rPr lang="de-DE" b="1" dirty="0" smtClean="0"/>
              <a:t> </a:t>
            </a:r>
            <a:r>
              <a:rPr lang="de-DE" b="1" dirty="0" err="1" smtClean="0"/>
              <a:t>Perigee</a:t>
            </a:r>
            <a:r>
              <a:rPr lang="de-DE" b="1" dirty="0" smtClean="0"/>
              <a:t> : </a:t>
            </a:r>
            <a:r>
              <a:rPr lang="de-DE" b="0" dirty="0" smtClean="0"/>
              <a:t>Winkelmessung entlang</a:t>
            </a:r>
            <a:r>
              <a:rPr lang="de-DE" b="0" baseline="0" dirty="0" smtClean="0"/>
              <a:t> der Umlaufbahn</a:t>
            </a:r>
            <a:endParaRPr lang="de-DE" b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114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553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Für die Unterrahmen 1 bis 3 ist der Informationsgehalt bei allen 25 Seiten gleich. Dies bedeutet, dass ein Empfänger alle 30 Sekunden über die vollständigen Zeitwerte und Ephemeriden- Daten des übermittelnden Satelliten verfügt.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3066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NMEA-Format – maximal 79 Zeichen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54027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65782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Der GLL-Datensatz (</a:t>
            </a:r>
            <a:r>
              <a:rPr lang="de-DE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Geographic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Position – </a:t>
            </a:r>
            <a:r>
              <a:rPr lang="de-DE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Latitude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 </a:t>
            </a:r>
            <a:r>
              <a:rPr lang="de-DE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Longitude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beinhaltet Informationen bezüglich </a:t>
            </a:r>
            <a:r>
              <a:rPr lang="de-DE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geogra-phische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Breite und Länge, Zeit und Status.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95938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UTC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die koordinierte Weltzeit</a:t>
            </a:r>
          </a:p>
          <a:p>
            <a:r>
              <a:rPr lang="de-DE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GPS-Zeit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das Zeitsystem von GPS. Die GPS-Zeit differiert von UTC um eine ganze Anzahl von Sekunden (für das Jahr 2008 betrug die Differenz 14 Sekunden) und einen Bruchteil einer Sekunde der kleiner als 1 </a:t>
            </a:r>
            <a:r>
              <a:rPr lang="de-DE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μs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ist. Die Differenz GPS-Zeit zu UTC und das zeitliche Verhalten der Differenz werden mit der Navigationsnachricht (</a:t>
            </a:r>
            <a:r>
              <a:rPr lang="de-DE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Subframe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4, Page 18) übertragen. </a:t>
            </a:r>
          </a:p>
          <a:p>
            <a:r>
              <a:rPr lang="de-DE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Satelliten-Zeit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die Zeit an Bord von jedem einzelnen Satelliten. Die eigene Abweichung Satelliten-Zeit zur GPS-Zeit und das zeitliche Verhalten dieser Abweichung wird ebenfalls von jedem einzelnen Satelliten mit der Navigationsnachricht (</a:t>
            </a:r>
            <a:r>
              <a:rPr lang="de-DE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Subframe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1, Page 1-25) übertragen. </a:t>
            </a:r>
          </a:p>
          <a:p>
            <a:r>
              <a:rPr lang="de-DE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Empfänger-Zeit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die Zeit innerhalb eines GPS-Empfängers. Diese Zeit wird meistens von einem internen Quarz-Oszillator abgeleitet und differiert von der GPS-Zeit bzw. UTC. Die Differenz t0 ist zu Beginn des Betriebs eines GPS-Empfängers unbekannt, kann aber nach einigen Messungen verringert werden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3080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51856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0054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3937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13753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C1F5D-AA1A-4F52-AA18-5C0644BEB1EB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7349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BCA497-3F80-4B98-8DC9-6EF3AD61E722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625164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EC630F-B518-4B59-A480-BDC536A52E36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644804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1892F3-577A-4393-B013-C23A1FF1CC81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159488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62B0F3-6A5A-4A74-9E7C-4915D732A85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520551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D8DA6-9E0C-40BC-B619-D1A2DD5D09F2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920278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14280C-634F-4D60-8A4F-A2B0E7D92472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481845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A3C92B-DEE2-430D-9B57-68C727CE26EC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78121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A22AF4-364D-4753-AC60-3A0C8C8F427A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95757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F39CDF-111A-4EFC-99B8-7340E4DA411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588878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0F9E3E-B37A-4EBF-9F8A-38F32B881556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47077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7A0552-A824-4391-9692-7150CDC33D80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180872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Picture 11" descr="E:\Temp\Signet_neu\JPEG_300dpi\RGB\uni_bwm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304801"/>
            <a:ext cx="1777529" cy="338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Klicken Sie, um die Formate des Vorlagentextes zu bearbeiten</a:t>
            </a:r>
          </a:p>
          <a:p>
            <a:pPr lvl="1"/>
            <a:r>
              <a:rPr lang="de-DE" altLang="de-DE" smtClean="0"/>
              <a:t>Zweite Ebene</a:t>
            </a:r>
          </a:p>
          <a:p>
            <a:pPr lvl="2"/>
            <a:r>
              <a:rPr lang="de-DE" altLang="de-DE" smtClean="0"/>
              <a:t>Dritte Ebene</a:t>
            </a:r>
          </a:p>
          <a:p>
            <a:pPr lvl="3"/>
            <a:r>
              <a:rPr lang="de-DE" altLang="de-DE" smtClean="0"/>
              <a:t>Vierte Ebene</a:t>
            </a:r>
          </a:p>
          <a:p>
            <a:pPr lvl="4"/>
            <a:r>
              <a:rPr lang="de-DE" altLang="de-DE" smtClean="0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D269E34-6DCF-4B88-9B23-70803271F0C3}" type="slidenum">
              <a:rPr lang="de-DE" altLang="de-DE"/>
              <a:pPr/>
              <a:t>‹Nr.›</a:t>
            </a:fld>
            <a:endParaRPr lang="de-DE" altLang="de-DE"/>
          </a:p>
        </p:txBody>
      </p:sp>
      <p:pic>
        <p:nvPicPr>
          <p:cNvPr id="1034" name="Picture 10" descr="E:\Temp\Signet_neu\PowerPoint-Folien\Hilfsdateien\Streifen-hoch.jp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03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gif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gif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gif"/><Relationship Id="rId5" Type="http://schemas.openxmlformats.org/officeDocument/2006/relationships/image" Target="../media/image10.png"/><Relationship Id="rId10" Type="http://schemas.openxmlformats.org/officeDocument/2006/relationships/image" Target="../media/image17.png"/><Relationship Id="rId4" Type="http://schemas.openxmlformats.org/officeDocument/2006/relationships/image" Target="../media/image6.gif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lianzdeutschland.de/news/news-2012/02-07-12-risiko-blitz-tipps-zum-schutz-und-hinweise-zu-versicher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899592" y="2514600"/>
            <a:ext cx="7704856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de-DE" altLang="de-DE" sz="2800" b="1" dirty="0">
                <a:latin typeface="Arial" panose="020B0604020202020204" pitchFamily="34" charset="0"/>
              </a:rPr>
              <a:t>Global Navigation </a:t>
            </a:r>
            <a:r>
              <a:rPr lang="de-DE" altLang="de-DE" sz="2800" b="1" dirty="0" err="1">
                <a:latin typeface="Arial" panose="020B0604020202020204" pitchFamily="34" charset="0"/>
              </a:rPr>
              <a:t>Satellite</a:t>
            </a:r>
            <a:r>
              <a:rPr lang="de-DE" altLang="de-DE" sz="2800" b="1" dirty="0">
                <a:latin typeface="Arial" panose="020B0604020202020204" pitchFamily="34" charset="0"/>
              </a:rPr>
              <a:t> </a:t>
            </a:r>
            <a:r>
              <a:rPr lang="de-DE" altLang="de-DE" sz="2800" b="1" dirty="0" smtClean="0">
                <a:latin typeface="Arial" panose="020B0604020202020204" pitchFamily="34" charset="0"/>
              </a:rPr>
              <a:t>System</a:t>
            </a:r>
          </a:p>
          <a:p>
            <a:pPr>
              <a:spcBef>
                <a:spcPct val="50000"/>
              </a:spcBef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de-DE" altLang="de-DE" sz="2000" b="1" dirty="0" smtClean="0">
                <a:latin typeface="Arial" panose="020B0604020202020204" pitchFamily="34" charset="0"/>
              </a:rPr>
              <a:t>(globales Navigationssatellitensystem)</a:t>
            </a:r>
            <a:endParaRPr lang="de-DE" altLang="de-DE" sz="2000" b="1" dirty="0">
              <a:latin typeface="Arial" panose="020B0604020202020204" pitchFamily="34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899592" y="5733256"/>
            <a:ext cx="7704856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lang="de-DE" altLang="de-DE" sz="1800" b="1" dirty="0" smtClean="0">
                <a:latin typeface="Arial" panose="020B0604020202020204" pitchFamily="34" charset="0"/>
              </a:rPr>
              <a:t>Christian Merath</a:t>
            </a:r>
          </a:p>
          <a:p>
            <a:pPr>
              <a:spcBef>
                <a:spcPct val="50000"/>
              </a:spcBef>
              <a:buClr>
                <a:srgbClr val="FF6600"/>
              </a:buClr>
              <a:buFont typeface="Wingdings" panose="05000000000000000000" pitchFamily="2" charset="2"/>
              <a:buNone/>
            </a:pPr>
            <a:endParaRPr lang="de-DE" altLang="de-DE" sz="1400" b="1" dirty="0">
              <a:latin typeface="Arial" panose="020B0604020202020204" pitchFamily="34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1115616" y="1196752"/>
            <a:ext cx="58388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F58026"/>
              </a:buClr>
              <a:buFont typeface="Wingdings" panose="05000000000000000000" pitchFamily="2" charset="2"/>
              <a:buChar char="§"/>
            </a:pPr>
            <a:r>
              <a:rPr lang="de-DE" altLang="de-DE" sz="2800" b="1" dirty="0">
                <a:latin typeface="Arial" panose="020B0604020202020204" pitchFamily="34" charset="0"/>
              </a:rPr>
              <a:t> </a:t>
            </a:r>
            <a:r>
              <a:rPr lang="de-DE" altLang="de-DE" sz="2800" b="1" dirty="0" smtClean="0">
                <a:latin typeface="Arial" panose="020B0604020202020204" pitchFamily="34" charset="0"/>
              </a:rPr>
              <a:t>Gliederung</a:t>
            </a:r>
            <a:endParaRPr lang="de-DE" altLang="de-DE" sz="2800" b="1" dirty="0">
              <a:latin typeface="Arial" panose="020B0604020202020204" pitchFamily="34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115616" y="2852936"/>
            <a:ext cx="749498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F58026"/>
              </a:buClr>
              <a:buFont typeface="+mj-lt"/>
              <a:buAutoNum type="arabicPeriod"/>
            </a:pPr>
            <a:r>
              <a:rPr lang="de-DE" altLang="de-DE" b="1" dirty="0" smtClean="0">
                <a:latin typeface="Arial" panose="020B0604020202020204" pitchFamily="34" charset="0"/>
              </a:rPr>
              <a:t>Die Systeme</a:t>
            </a:r>
          </a:p>
          <a:p>
            <a:pPr marL="457200" indent="-457200">
              <a:spcBef>
                <a:spcPct val="50000"/>
              </a:spcBef>
              <a:buClr>
                <a:srgbClr val="F58026"/>
              </a:buClr>
              <a:buFont typeface="+mj-lt"/>
              <a:buAutoNum type="arabicPeriod"/>
            </a:pPr>
            <a:r>
              <a:rPr lang="de-DE" altLang="de-DE" b="1" dirty="0" smtClean="0">
                <a:latin typeface="Arial" panose="020B0604020202020204" pitchFamily="34" charset="0"/>
              </a:rPr>
              <a:t>Positionsberechnung</a:t>
            </a:r>
          </a:p>
          <a:p>
            <a:pPr marL="457200" indent="-457200">
              <a:spcBef>
                <a:spcPct val="50000"/>
              </a:spcBef>
              <a:buClr>
                <a:srgbClr val="F58026"/>
              </a:buClr>
              <a:buFont typeface="+mj-lt"/>
              <a:buAutoNum type="arabicPeriod"/>
            </a:pPr>
            <a:r>
              <a:rPr lang="de-DE" altLang="de-DE" b="1" dirty="0" smtClean="0">
                <a:latin typeface="Arial" panose="020B0604020202020204" pitchFamily="34" charset="0"/>
              </a:rPr>
              <a:t>Das System GPS</a:t>
            </a:r>
            <a:endParaRPr lang="de-DE" altLang="de-DE" b="1" dirty="0">
              <a:latin typeface="Arial" panose="020B0604020202020204" pitchFamily="34" charset="0"/>
            </a:endParaRPr>
          </a:p>
          <a:p>
            <a:pPr marL="457200" indent="-457200">
              <a:spcBef>
                <a:spcPct val="50000"/>
              </a:spcBef>
              <a:buClr>
                <a:srgbClr val="F58026"/>
              </a:buClr>
              <a:buFont typeface="+mj-lt"/>
              <a:buAutoNum type="arabicPeriod"/>
            </a:pPr>
            <a:r>
              <a:rPr lang="de-DE" altLang="de-DE" b="1" dirty="0" smtClean="0">
                <a:latin typeface="Arial" panose="020B0604020202020204" pitchFamily="34" charset="0"/>
              </a:rPr>
              <a:t>Fehlerquellen</a:t>
            </a:r>
          </a:p>
          <a:p>
            <a:pPr marL="457200" indent="-457200">
              <a:spcBef>
                <a:spcPct val="50000"/>
              </a:spcBef>
              <a:buClr>
                <a:srgbClr val="F58026"/>
              </a:buClr>
              <a:buFont typeface="+mj-lt"/>
              <a:buAutoNum type="arabicPeriod"/>
            </a:pPr>
            <a:r>
              <a:rPr lang="de-DE" altLang="de-DE" b="1" dirty="0" smtClean="0">
                <a:latin typeface="Arial" panose="020B0604020202020204" pitchFamily="34" charset="0"/>
              </a:rPr>
              <a:t>Gefahren</a:t>
            </a:r>
            <a:endParaRPr lang="de-DE" altLang="de-DE" b="1" dirty="0">
              <a:latin typeface="Arial" panose="020B0604020202020204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fld id="{F9EC630F-B518-4B59-A480-BDC536A52E36}" type="slidenum">
              <a:rPr lang="de-DE" altLang="de-DE" sz="16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Die </a:t>
            </a:r>
            <a:r>
              <a:rPr lang="de-DE" altLang="de-DE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Systeme</a:t>
            </a:r>
            <a:endParaRPr lang="de-DE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115615" y="3068960"/>
            <a:ext cx="7494985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F58026"/>
              </a:buClr>
              <a:buFont typeface="Arial" panose="020B0604020202020204" pitchFamily="34" charset="0"/>
              <a:buChar char="•"/>
            </a:pPr>
            <a:r>
              <a:rPr lang="de-DE" altLang="de-DE" b="1" dirty="0" smtClean="0">
                <a:latin typeface="Arial" panose="020B0604020202020204" pitchFamily="34" charset="0"/>
              </a:rPr>
              <a:t>GLONASS</a:t>
            </a:r>
          </a:p>
          <a:p>
            <a:pPr marL="457200" indent="-457200">
              <a:spcBef>
                <a:spcPct val="50000"/>
              </a:spcBef>
              <a:buClr>
                <a:srgbClr val="F58026"/>
              </a:buClr>
              <a:buFont typeface="Arial" panose="020B0604020202020204" pitchFamily="34" charset="0"/>
              <a:buChar char="•"/>
            </a:pPr>
            <a:r>
              <a:rPr lang="de-DE" altLang="de-DE" b="1" dirty="0" err="1" smtClean="0">
                <a:latin typeface="Arial" panose="020B0604020202020204" pitchFamily="34" charset="0"/>
              </a:rPr>
              <a:t>BeiDou</a:t>
            </a:r>
            <a:endParaRPr lang="de-DE" altLang="de-DE" b="1" dirty="0" smtClean="0">
              <a:latin typeface="Arial" panose="020B0604020202020204" pitchFamily="34" charset="0"/>
            </a:endParaRPr>
          </a:p>
          <a:p>
            <a:pPr marL="457200" indent="-457200">
              <a:spcBef>
                <a:spcPct val="50000"/>
              </a:spcBef>
              <a:buClr>
                <a:srgbClr val="F58026"/>
              </a:buClr>
              <a:buFont typeface="Arial" panose="020B0604020202020204" pitchFamily="34" charset="0"/>
              <a:buChar char="•"/>
            </a:pPr>
            <a:r>
              <a:rPr lang="de-DE" altLang="de-DE" b="1" dirty="0" smtClean="0">
                <a:latin typeface="Arial" panose="020B0604020202020204" pitchFamily="34" charset="0"/>
              </a:rPr>
              <a:t>Galileo</a:t>
            </a:r>
          </a:p>
          <a:p>
            <a:pPr marL="457200" indent="-457200">
              <a:spcBef>
                <a:spcPct val="50000"/>
              </a:spcBef>
              <a:buClr>
                <a:srgbClr val="F58026"/>
              </a:buClr>
              <a:buFont typeface="Arial" panose="020B0604020202020204" pitchFamily="34" charset="0"/>
              <a:buChar char="•"/>
            </a:pPr>
            <a:r>
              <a:rPr lang="de-DE" altLang="de-DE" b="1" dirty="0" smtClean="0">
                <a:latin typeface="Arial" panose="020B0604020202020204" pitchFamily="34" charset="0"/>
              </a:rPr>
              <a:t>GPS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2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60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5" name="Gruppieren 3124"/>
          <p:cNvGrpSpPr/>
          <p:nvPr/>
        </p:nvGrpSpPr>
        <p:grpSpPr>
          <a:xfrm>
            <a:off x="3465563" y="2751789"/>
            <a:ext cx="2568575" cy="373063"/>
            <a:chOff x="3465563" y="2751789"/>
            <a:chExt cx="2568575" cy="373063"/>
          </a:xfrm>
        </p:grpSpPr>
        <p:sp>
          <p:nvSpPr>
            <p:cNvPr id="20" name="Rectangle 30"/>
            <p:cNvSpPr>
              <a:spLocks noChangeArrowheads="1"/>
            </p:cNvSpPr>
            <p:nvPr/>
          </p:nvSpPr>
          <p:spPr bwMode="auto">
            <a:xfrm>
              <a:off x="3465563" y="2751789"/>
              <a:ext cx="2568575" cy="373063"/>
            </a:xfrm>
            <a:prstGeom prst="rect">
              <a:avLst/>
            </a:prstGeom>
            <a:solidFill>
              <a:srgbClr val="F1F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89" name="Rectangle 55"/>
            <p:cNvSpPr>
              <a:spLocks noChangeArrowheads="1"/>
            </p:cNvSpPr>
            <p:nvPr/>
          </p:nvSpPr>
          <p:spPr bwMode="auto">
            <a:xfrm>
              <a:off x="3559226" y="2810527"/>
              <a:ext cx="806450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1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BeiDou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132" name="Gruppieren 3131"/>
          <p:cNvGrpSpPr/>
          <p:nvPr/>
        </p:nvGrpSpPr>
        <p:grpSpPr>
          <a:xfrm>
            <a:off x="6034138" y="3702702"/>
            <a:ext cx="2568575" cy="369888"/>
            <a:chOff x="6034138" y="3702702"/>
            <a:chExt cx="2568575" cy="369888"/>
          </a:xfrm>
        </p:grpSpPr>
        <p:sp>
          <p:nvSpPr>
            <p:cNvPr id="27" name="Rectangle 37"/>
            <p:cNvSpPr>
              <a:spLocks noChangeArrowheads="1"/>
            </p:cNvSpPr>
            <p:nvPr/>
          </p:nvSpPr>
          <p:spPr bwMode="auto">
            <a:xfrm>
              <a:off x="6034138" y="3702702"/>
              <a:ext cx="2568575" cy="369888"/>
            </a:xfrm>
            <a:prstGeom prst="rect">
              <a:avLst/>
            </a:prstGeom>
            <a:solidFill>
              <a:srgbClr val="F1F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05" name="Rectangle 67"/>
            <p:cNvSpPr>
              <a:spLocks noChangeArrowheads="1"/>
            </p:cNvSpPr>
            <p:nvPr/>
          </p:nvSpPr>
          <p:spPr bwMode="auto">
            <a:xfrm>
              <a:off x="6124626" y="3766202"/>
              <a:ext cx="103822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23.260 km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131" name="Gruppieren 3130"/>
          <p:cNvGrpSpPr/>
          <p:nvPr/>
        </p:nvGrpSpPr>
        <p:grpSpPr>
          <a:xfrm>
            <a:off x="6034138" y="3124852"/>
            <a:ext cx="2568575" cy="579437"/>
            <a:chOff x="6034138" y="3124852"/>
            <a:chExt cx="2568575" cy="579437"/>
          </a:xfrm>
        </p:grpSpPr>
        <p:sp>
          <p:nvSpPr>
            <p:cNvPr id="24" name="Rectangle 34"/>
            <p:cNvSpPr>
              <a:spLocks noChangeArrowheads="1"/>
            </p:cNvSpPr>
            <p:nvPr/>
          </p:nvSpPr>
          <p:spPr bwMode="auto">
            <a:xfrm>
              <a:off x="6034138" y="3124852"/>
              <a:ext cx="2568575" cy="577850"/>
            </a:xfrm>
            <a:prstGeom prst="rect">
              <a:avLst/>
            </a:prstGeom>
            <a:solidFill>
              <a:srgbClr val="E2F4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01" name="Rectangle 63"/>
            <p:cNvSpPr>
              <a:spLocks noChangeArrowheads="1"/>
            </p:cNvSpPr>
            <p:nvPr/>
          </p:nvSpPr>
          <p:spPr bwMode="auto">
            <a:xfrm>
              <a:off x="6124626" y="3186764"/>
              <a:ext cx="2078038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ESA und Europäische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02" name="Rectangle 64"/>
            <p:cNvSpPr>
              <a:spLocks noChangeArrowheads="1"/>
            </p:cNvSpPr>
            <p:nvPr/>
          </p:nvSpPr>
          <p:spPr bwMode="auto">
            <a:xfrm>
              <a:off x="6124626" y="3431239"/>
              <a:ext cx="620713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Union</a:t>
              </a:r>
              <a:endParaRPr kumimoji="0" lang="de-DE" altLang="de-DE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133" name="Gruppieren 3132"/>
          <p:cNvGrpSpPr/>
          <p:nvPr/>
        </p:nvGrpSpPr>
        <p:grpSpPr>
          <a:xfrm>
            <a:off x="6034138" y="4072589"/>
            <a:ext cx="2568575" cy="1066800"/>
            <a:chOff x="6034138" y="4072589"/>
            <a:chExt cx="2568575" cy="1066800"/>
          </a:xfrm>
        </p:grpSpPr>
        <p:sp>
          <p:nvSpPr>
            <p:cNvPr id="30" name="Rectangle 40"/>
            <p:cNvSpPr>
              <a:spLocks noChangeArrowheads="1"/>
            </p:cNvSpPr>
            <p:nvPr/>
          </p:nvSpPr>
          <p:spPr bwMode="auto">
            <a:xfrm>
              <a:off x="6034138" y="4072589"/>
              <a:ext cx="2568575" cy="1066800"/>
            </a:xfrm>
            <a:prstGeom prst="rect">
              <a:avLst/>
            </a:prstGeom>
            <a:solidFill>
              <a:srgbClr val="E2F4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12" name="Rectangle 74"/>
            <p:cNvSpPr>
              <a:spLocks noChangeArrowheads="1"/>
            </p:cNvSpPr>
            <p:nvPr/>
          </p:nvSpPr>
          <p:spPr bwMode="auto">
            <a:xfrm>
              <a:off x="6124626" y="4136089"/>
              <a:ext cx="1352550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1575,42 MHz,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13" name="Rectangle 75"/>
            <p:cNvSpPr>
              <a:spLocks noChangeArrowheads="1"/>
            </p:cNvSpPr>
            <p:nvPr/>
          </p:nvSpPr>
          <p:spPr bwMode="auto">
            <a:xfrm>
              <a:off x="6124626" y="4378977"/>
              <a:ext cx="169227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1176,45 MHz und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15" name="Rectangle 77"/>
            <p:cNvSpPr>
              <a:spLocks noChangeArrowheads="1"/>
            </p:cNvSpPr>
            <p:nvPr/>
          </p:nvSpPr>
          <p:spPr bwMode="auto">
            <a:xfrm>
              <a:off x="6134150" y="4623452"/>
              <a:ext cx="129063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1278,75 MHz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126" name="Gruppieren 3125"/>
          <p:cNvGrpSpPr/>
          <p:nvPr/>
        </p:nvGrpSpPr>
        <p:grpSpPr>
          <a:xfrm>
            <a:off x="3465563" y="3124852"/>
            <a:ext cx="2568575" cy="579437"/>
            <a:chOff x="3465563" y="3124852"/>
            <a:chExt cx="2568575" cy="579437"/>
          </a:xfrm>
        </p:grpSpPr>
        <p:sp>
          <p:nvSpPr>
            <p:cNvPr id="23" name="Rectangle 33"/>
            <p:cNvSpPr>
              <a:spLocks noChangeArrowheads="1"/>
            </p:cNvSpPr>
            <p:nvPr/>
          </p:nvSpPr>
          <p:spPr bwMode="auto">
            <a:xfrm>
              <a:off x="3465563" y="3124852"/>
              <a:ext cx="2568575" cy="577850"/>
            </a:xfrm>
            <a:prstGeom prst="rect">
              <a:avLst/>
            </a:prstGeom>
            <a:solidFill>
              <a:srgbClr val="E2F4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98" name="Rectangle 60"/>
            <p:cNvSpPr>
              <a:spLocks noChangeArrowheads="1"/>
            </p:cNvSpPr>
            <p:nvPr/>
          </p:nvSpPr>
          <p:spPr bwMode="auto">
            <a:xfrm>
              <a:off x="3559226" y="3186764"/>
              <a:ext cx="1300163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Chinesisches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00" name="Rectangle 62"/>
            <p:cNvSpPr>
              <a:spLocks noChangeArrowheads="1"/>
            </p:cNvSpPr>
            <p:nvPr/>
          </p:nvSpPr>
          <p:spPr bwMode="auto">
            <a:xfrm>
              <a:off x="3559226" y="3431239"/>
              <a:ext cx="237172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Verteidigungsministerium</a:t>
              </a:r>
              <a:endParaRPr kumimoji="0" lang="de-DE" altLang="de-DE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121" name="Gruppieren 3120"/>
          <p:cNvGrpSpPr/>
          <p:nvPr/>
        </p:nvGrpSpPr>
        <p:grpSpPr>
          <a:xfrm>
            <a:off x="898576" y="3124852"/>
            <a:ext cx="2566988" cy="579437"/>
            <a:chOff x="898576" y="3124852"/>
            <a:chExt cx="2566988" cy="579437"/>
          </a:xfrm>
        </p:grpSpPr>
        <p:sp>
          <p:nvSpPr>
            <p:cNvPr id="22" name="Rectangle 32"/>
            <p:cNvSpPr>
              <a:spLocks noChangeArrowheads="1"/>
            </p:cNvSpPr>
            <p:nvPr/>
          </p:nvSpPr>
          <p:spPr bwMode="auto">
            <a:xfrm>
              <a:off x="898576" y="3124852"/>
              <a:ext cx="2566988" cy="577850"/>
            </a:xfrm>
            <a:prstGeom prst="rect">
              <a:avLst/>
            </a:prstGeom>
            <a:solidFill>
              <a:srgbClr val="E2F4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93" name="Rectangle 57"/>
            <p:cNvSpPr>
              <a:spLocks noChangeArrowheads="1"/>
            </p:cNvSpPr>
            <p:nvPr/>
          </p:nvSpPr>
          <p:spPr bwMode="auto">
            <a:xfrm>
              <a:off x="990651" y="3186764"/>
              <a:ext cx="1130300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Russisches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95" name="Rectangle 59"/>
            <p:cNvSpPr>
              <a:spLocks noChangeArrowheads="1"/>
            </p:cNvSpPr>
            <p:nvPr/>
          </p:nvSpPr>
          <p:spPr bwMode="auto">
            <a:xfrm>
              <a:off x="990651" y="3431239"/>
              <a:ext cx="237172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Verteidigungsministerium</a:t>
              </a:r>
              <a:endParaRPr kumimoji="0" lang="de-DE" altLang="de-DE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Die </a:t>
            </a:r>
            <a:r>
              <a:rPr lang="de-DE" altLang="de-DE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Systeme</a:t>
            </a:r>
            <a:endParaRPr lang="de-DE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2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3" name="Rectangle 43"/>
          <p:cNvSpPr>
            <a:spLocks noChangeArrowheads="1"/>
          </p:cNvSpPr>
          <p:nvPr/>
        </p:nvSpPr>
        <p:spPr bwMode="auto">
          <a:xfrm>
            <a:off x="6034138" y="5139389"/>
            <a:ext cx="2568575" cy="369888"/>
          </a:xfrm>
          <a:prstGeom prst="rect">
            <a:avLst/>
          </a:prstGeom>
          <a:solidFill>
            <a:srgbClr val="F1FA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pSp>
        <p:nvGrpSpPr>
          <p:cNvPr id="3118" name="Gruppieren 3117"/>
          <p:cNvGrpSpPr/>
          <p:nvPr/>
        </p:nvGrpSpPr>
        <p:grpSpPr>
          <a:xfrm>
            <a:off x="898576" y="2751789"/>
            <a:ext cx="2566988" cy="373063"/>
            <a:chOff x="898576" y="2751789"/>
            <a:chExt cx="2566988" cy="373063"/>
          </a:xfrm>
        </p:grpSpPr>
        <p:sp>
          <p:nvSpPr>
            <p:cNvPr id="19" name="Rectangle 29"/>
            <p:cNvSpPr>
              <a:spLocks noChangeArrowheads="1"/>
            </p:cNvSpPr>
            <p:nvPr/>
          </p:nvSpPr>
          <p:spPr bwMode="auto">
            <a:xfrm>
              <a:off x="898576" y="2751789"/>
              <a:ext cx="2566988" cy="373063"/>
            </a:xfrm>
            <a:prstGeom prst="rect">
              <a:avLst/>
            </a:prstGeom>
            <a:solidFill>
              <a:srgbClr val="F1F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88" name="Rectangle 54"/>
            <p:cNvSpPr>
              <a:spLocks noChangeArrowheads="1"/>
            </p:cNvSpPr>
            <p:nvPr/>
          </p:nvSpPr>
          <p:spPr bwMode="auto">
            <a:xfrm>
              <a:off x="990651" y="2810527"/>
              <a:ext cx="1092200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GLONASS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130" name="Gruppieren 3129"/>
          <p:cNvGrpSpPr/>
          <p:nvPr/>
        </p:nvGrpSpPr>
        <p:grpSpPr>
          <a:xfrm>
            <a:off x="6034138" y="2751789"/>
            <a:ext cx="2568575" cy="373063"/>
            <a:chOff x="6034138" y="2751789"/>
            <a:chExt cx="2568575" cy="373063"/>
          </a:xfrm>
        </p:grpSpPr>
        <p:sp>
          <p:nvSpPr>
            <p:cNvPr id="21" name="Rectangle 31"/>
            <p:cNvSpPr>
              <a:spLocks noChangeArrowheads="1"/>
            </p:cNvSpPr>
            <p:nvPr/>
          </p:nvSpPr>
          <p:spPr bwMode="auto">
            <a:xfrm>
              <a:off x="6034138" y="2751789"/>
              <a:ext cx="2568575" cy="373063"/>
            </a:xfrm>
            <a:prstGeom prst="rect">
              <a:avLst/>
            </a:prstGeom>
            <a:solidFill>
              <a:srgbClr val="F1F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90" name="Rectangle 56"/>
            <p:cNvSpPr>
              <a:spLocks noChangeArrowheads="1"/>
            </p:cNvSpPr>
            <p:nvPr/>
          </p:nvSpPr>
          <p:spPr bwMode="auto">
            <a:xfrm>
              <a:off x="6124626" y="2810527"/>
              <a:ext cx="773113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Galileo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122" name="Gruppieren 3121"/>
          <p:cNvGrpSpPr/>
          <p:nvPr/>
        </p:nvGrpSpPr>
        <p:grpSpPr>
          <a:xfrm>
            <a:off x="898576" y="3702702"/>
            <a:ext cx="2566988" cy="369888"/>
            <a:chOff x="898576" y="3702702"/>
            <a:chExt cx="2566988" cy="369888"/>
          </a:xfrm>
        </p:grpSpPr>
        <p:sp>
          <p:nvSpPr>
            <p:cNvPr id="25" name="Rectangle 35"/>
            <p:cNvSpPr>
              <a:spLocks noChangeArrowheads="1"/>
            </p:cNvSpPr>
            <p:nvPr/>
          </p:nvSpPr>
          <p:spPr bwMode="auto">
            <a:xfrm>
              <a:off x="898576" y="3702702"/>
              <a:ext cx="2566988" cy="369888"/>
            </a:xfrm>
            <a:prstGeom prst="rect">
              <a:avLst/>
            </a:prstGeom>
            <a:solidFill>
              <a:srgbClr val="F1F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03" name="Rectangle 65"/>
            <p:cNvSpPr>
              <a:spLocks noChangeArrowheads="1"/>
            </p:cNvSpPr>
            <p:nvPr/>
          </p:nvSpPr>
          <p:spPr bwMode="auto">
            <a:xfrm>
              <a:off x="990651" y="3766202"/>
              <a:ext cx="103822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19.100 km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127" name="Gruppieren 3126"/>
          <p:cNvGrpSpPr/>
          <p:nvPr/>
        </p:nvGrpSpPr>
        <p:grpSpPr>
          <a:xfrm>
            <a:off x="3465563" y="3702702"/>
            <a:ext cx="2568575" cy="369888"/>
            <a:chOff x="3465563" y="3702702"/>
            <a:chExt cx="2568575" cy="369888"/>
          </a:xfrm>
        </p:grpSpPr>
        <p:sp>
          <p:nvSpPr>
            <p:cNvPr id="26" name="Rectangle 36"/>
            <p:cNvSpPr>
              <a:spLocks noChangeArrowheads="1"/>
            </p:cNvSpPr>
            <p:nvPr/>
          </p:nvSpPr>
          <p:spPr bwMode="auto">
            <a:xfrm>
              <a:off x="3465563" y="3702702"/>
              <a:ext cx="2568575" cy="369888"/>
            </a:xfrm>
            <a:prstGeom prst="rect">
              <a:avLst/>
            </a:prstGeom>
            <a:solidFill>
              <a:srgbClr val="F1F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04" name="Rectangle 66"/>
            <p:cNvSpPr>
              <a:spLocks noChangeArrowheads="1"/>
            </p:cNvSpPr>
            <p:nvPr/>
          </p:nvSpPr>
          <p:spPr bwMode="auto">
            <a:xfrm>
              <a:off x="3559226" y="3766202"/>
              <a:ext cx="103822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22.000 km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123" name="Gruppieren 3122"/>
          <p:cNvGrpSpPr/>
          <p:nvPr/>
        </p:nvGrpSpPr>
        <p:grpSpPr>
          <a:xfrm>
            <a:off x="898576" y="4072589"/>
            <a:ext cx="2566988" cy="1066800"/>
            <a:chOff x="898576" y="4072589"/>
            <a:chExt cx="2566988" cy="1066800"/>
          </a:xfrm>
        </p:grpSpPr>
        <p:sp>
          <p:nvSpPr>
            <p:cNvPr id="28" name="Rectangle 38"/>
            <p:cNvSpPr>
              <a:spLocks noChangeArrowheads="1"/>
            </p:cNvSpPr>
            <p:nvPr/>
          </p:nvSpPr>
          <p:spPr bwMode="auto">
            <a:xfrm>
              <a:off x="898576" y="4072589"/>
              <a:ext cx="2566988" cy="1066800"/>
            </a:xfrm>
            <a:prstGeom prst="rect">
              <a:avLst/>
            </a:prstGeom>
            <a:solidFill>
              <a:srgbClr val="E2F4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06" name="Rectangle 68"/>
            <p:cNvSpPr>
              <a:spLocks noChangeArrowheads="1"/>
            </p:cNvSpPr>
            <p:nvPr/>
          </p:nvSpPr>
          <p:spPr bwMode="auto">
            <a:xfrm>
              <a:off x="990651" y="4136089"/>
              <a:ext cx="2443163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1602 MHz + k · 562,5 kHz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07" name="Rectangle 69"/>
            <p:cNvSpPr>
              <a:spLocks noChangeArrowheads="1"/>
            </p:cNvSpPr>
            <p:nvPr/>
          </p:nvSpPr>
          <p:spPr bwMode="auto">
            <a:xfrm>
              <a:off x="990651" y="4378977"/>
              <a:ext cx="2443163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1246 MHz + k · 437,5 kHz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128" name="Gruppieren 3127"/>
          <p:cNvGrpSpPr/>
          <p:nvPr/>
        </p:nvGrpSpPr>
        <p:grpSpPr>
          <a:xfrm>
            <a:off x="3465563" y="4072589"/>
            <a:ext cx="2568575" cy="1068388"/>
            <a:chOff x="3465563" y="4072589"/>
            <a:chExt cx="2568575" cy="1068388"/>
          </a:xfrm>
        </p:grpSpPr>
        <p:sp>
          <p:nvSpPr>
            <p:cNvPr id="29" name="Rectangle 39"/>
            <p:cNvSpPr>
              <a:spLocks noChangeArrowheads="1"/>
            </p:cNvSpPr>
            <p:nvPr/>
          </p:nvSpPr>
          <p:spPr bwMode="auto">
            <a:xfrm>
              <a:off x="3465563" y="4072589"/>
              <a:ext cx="2568575" cy="1066800"/>
            </a:xfrm>
            <a:prstGeom prst="rect">
              <a:avLst/>
            </a:prstGeom>
            <a:solidFill>
              <a:srgbClr val="E2F4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08" name="Rectangle 70"/>
            <p:cNvSpPr>
              <a:spLocks noChangeArrowheads="1"/>
            </p:cNvSpPr>
            <p:nvPr/>
          </p:nvSpPr>
          <p:spPr bwMode="auto">
            <a:xfrm>
              <a:off x="3559226" y="4136089"/>
              <a:ext cx="1466850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1561,098 MHz,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09" name="Rectangle 71"/>
            <p:cNvSpPr>
              <a:spLocks noChangeArrowheads="1"/>
            </p:cNvSpPr>
            <p:nvPr/>
          </p:nvSpPr>
          <p:spPr bwMode="auto">
            <a:xfrm>
              <a:off x="3559226" y="4378977"/>
              <a:ext cx="1466850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1589,742 MHz,</a:t>
              </a:r>
              <a:endParaRPr kumimoji="0" lang="de-DE" altLang="de-DE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10" name="Rectangle 72"/>
            <p:cNvSpPr>
              <a:spLocks noChangeArrowheads="1"/>
            </p:cNvSpPr>
            <p:nvPr/>
          </p:nvSpPr>
          <p:spPr bwMode="auto">
            <a:xfrm>
              <a:off x="3559226" y="4623452"/>
              <a:ext cx="1747838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1268,52 MHz und </a:t>
              </a:r>
              <a:endParaRPr kumimoji="0" lang="de-DE" altLang="de-DE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11" name="Rectangle 73"/>
            <p:cNvSpPr>
              <a:spLocks noChangeArrowheads="1"/>
            </p:cNvSpPr>
            <p:nvPr/>
          </p:nvSpPr>
          <p:spPr bwMode="auto">
            <a:xfrm>
              <a:off x="3559226" y="4867927"/>
              <a:ext cx="1296988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1207,14 MHz</a:t>
              </a:r>
              <a:endParaRPr kumimoji="0" lang="de-DE" altLang="de-DE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124" name="Gruppieren 3123"/>
          <p:cNvGrpSpPr/>
          <p:nvPr/>
        </p:nvGrpSpPr>
        <p:grpSpPr>
          <a:xfrm>
            <a:off x="898576" y="5139389"/>
            <a:ext cx="2566988" cy="369888"/>
            <a:chOff x="898576" y="5139389"/>
            <a:chExt cx="2566988" cy="369888"/>
          </a:xfrm>
        </p:grpSpPr>
        <p:sp>
          <p:nvSpPr>
            <p:cNvPr id="31" name="Rectangle 41"/>
            <p:cNvSpPr>
              <a:spLocks noChangeArrowheads="1"/>
            </p:cNvSpPr>
            <p:nvPr/>
          </p:nvSpPr>
          <p:spPr bwMode="auto">
            <a:xfrm>
              <a:off x="898576" y="5139389"/>
              <a:ext cx="2566988" cy="369888"/>
            </a:xfrm>
            <a:prstGeom prst="rect">
              <a:avLst/>
            </a:prstGeom>
            <a:solidFill>
              <a:srgbClr val="F1F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16" name="Rectangle 78"/>
            <p:cNvSpPr>
              <a:spLocks noChangeArrowheads="1"/>
            </p:cNvSpPr>
            <p:nvPr/>
          </p:nvSpPr>
          <p:spPr bwMode="auto">
            <a:xfrm>
              <a:off x="990651" y="5202889"/>
              <a:ext cx="1589088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September 1993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129" name="Gruppieren 3128"/>
          <p:cNvGrpSpPr/>
          <p:nvPr/>
        </p:nvGrpSpPr>
        <p:grpSpPr>
          <a:xfrm>
            <a:off x="3465563" y="5139389"/>
            <a:ext cx="2568575" cy="369888"/>
            <a:chOff x="3465563" y="5139389"/>
            <a:chExt cx="2568575" cy="369888"/>
          </a:xfrm>
        </p:grpSpPr>
        <p:sp>
          <p:nvSpPr>
            <p:cNvPr id="3072" name="Rectangle 42"/>
            <p:cNvSpPr>
              <a:spLocks noChangeArrowheads="1"/>
            </p:cNvSpPr>
            <p:nvPr/>
          </p:nvSpPr>
          <p:spPr bwMode="auto">
            <a:xfrm>
              <a:off x="3465563" y="5139389"/>
              <a:ext cx="2568575" cy="369888"/>
            </a:xfrm>
            <a:prstGeom prst="rect">
              <a:avLst/>
            </a:prstGeom>
            <a:solidFill>
              <a:srgbClr val="F1F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17" name="Rectangle 79"/>
            <p:cNvSpPr>
              <a:spLocks noChangeArrowheads="1"/>
            </p:cNvSpPr>
            <p:nvPr/>
          </p:nvSpPr>
          <p:spPr bwMode="auto">
            <a:xfrm>
              <a:off x="3559226" y="5202889"/>
              <a:ext cx="153352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Dezember 2011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245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GPS</a:t>
            </a:r>
            <a:endParaRPr lang="de-DE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943744"/>
          </a:xfrm>
        </p:spPr>
        <p:txBody>
          <a:bodyPr/>
          <a:lstStyle/>
          <a:p>
            <a:pPr marL="0" indent="0">
              <a:buNone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Global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Positioning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</a:p>
          <a:p>
            <a:pPr marL="0" indent="0">
              <a:buNone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(Navigational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Satellite Timing and Ranging – Global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Positioning </a:t>
            </a:r>
            <a:r>
              <a:rPr lang="de-DE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System)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685800" y="3717032"/>
            <a:ext cx="792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US-Verteidigungsministerium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17. Juli 1995</a:t>
            </a:r>
          </a:p>
        </p:txBody>
      </p:sp>
    </p:spTree>
    <p:extLst>
      <p:ext uri="{BB962C8B-B14F-4D97-AF65-F5344CB8AC3E}">
        <p14:creationId xmlns:p14="http://schemas.microsoft.com/office/powerpoint/2010/main" val="2690367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Positionsberechnung</a:t>
            </a:r>
            <a:endParaRPr lang="de-DE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 descr="http://www.realschulebadkissingen.de/joomla16/images/dauerbilder/oh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804" y="4941811"/>
            <a:ext cx="959677" cy="1439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www.macanvas.de/wp-content/uploads/2011/06/eye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348880"/>
            <a:ext cx="1916102" cy="130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https://www.allianzdeutschland.de/files/9713/4123/5157/blitze_content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282" y="2538602"/>
            <a:ext cx="5578780" cy="3516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Gerade Verbindung mit Pfeil 3"/>
          <p:cNvCxnSpPr>
            <a:endCxn id="1030" idx="3"/>
          </p:cNvCxnSpPr>
          <p:nvPr/>
        </p:nvCxnSpPr>
        <p:spPr>
          <a:xfrm flipH="1" flipV="1">
            <a:off x="2815694" y="3000156"/>
            <a:ext cx="2260362" cy="1325722"/>
          </a:xfrm>
          <a:prstGeom prst="straightConnector1">
            <a:avLst/>
          </a:prstGeom>
          <a:ln w="698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/>
          <p:cNvCxnSpPr/>
          <p:nvPr/>
        </p:nvCxnSpPr>
        <p:spPr>
          <a:xfrm flipH="1">
            <a:off x="2365200" y="4325878"/>
            <a:ext cx="2710856" cy="1241990"/>
          </a:xfrm>
          <a:prstGeom prst="straightConnector1">
            <a:avLst/>
          </a:prstGeom>
          <a:ln w="698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Gerade Verbindung mit Pfeil 16"/>
          <p:cNvCxnSpPr/>
          <p:nvPr/>
        </p:nvCxnSpPr>
        <p:spPr>
          <a:xfrm>
            <a:off x="1857642" y="3770981"/>
            <a:ext cx="0" cy="1109794"/>
          </a:xfrm>
          <a:prstGeom prst="straightConnector1">
            <a:avLst/>
          </a:prstGeom>
          <a:ln w="698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feld 17"/>
          <p:cNvSpPr txBox="1"/>
          <p:nvPr/>
        </p:nvSpPr>
        <p:spPr>
          <a:xfrm rot="1807652">
            <a:off x="3275300" y="3144544"/>
            <a:ext cx="1387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Startzeit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feld 23"/>
          <p:cNvSpPr txBox="1"/>
          <p:nvPr/>
        </p:nvSpPr>
        <p:spPr>
          <a:xfrm rot="20095249">
            <a:off x="3042191" y="4968547"/>
            <a:ext cx="1590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Stoppzeit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feld 24"/>
          <p:cNvSpPr txBox="1"/>
          <p:nvPr/>
        </p:nvSpPr>
        <p:spPr>
          <a:xfrm>
            <a:off x="2001659" y="4065788"/>
            <a:ext cx="1387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Laufzeit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22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1.11111E-6 L 0.27864 -0.0002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2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  <p:bldP spid="24" grpId="0"/>
      <p:bldP spid="24" grpId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Positionsberechnung</a:t>
            </a:r>
            <a:endParaRPr lang="de-DE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0" name="Gerader Verbinder 59"/>
          <p:cNvCxnSpPr/>
          <p:nvPr/>
        </p:nvCxnSpPr>
        <p:spPr>
          <a:xfrm flipV="1">
            <a:off x="1897877" y="2120777"/>
            <a:ext cx="0" cy="4068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/>
          <p:cNvCxnSpPr/>
          <p:nvPr/>
        </p:nvCxnSpPr>
        <p:spPr>
          <a:xfrm flipV="1">
            <a:off x="5433737" y="2120777"/>
            <a:ext cx="0" cy="356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/>
          <p:cNvCxnSpPr/>
          <p:nvPr/>
        </p:nvCxnSpPr>
        <p:spPr>
          <a:xfrm>
            <a:off x="1403648" y="5118009"/>
            <a:ext cx="6785148" cy="0"/>
          </a:xfrm>
          <a:prstGeom prst="line">
            <a:avLst/>
          </a:prstGeom>
          <a:ln w="698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Grafik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939" y="3807007"/>
            <a:ext cx="908572" cy="1296144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306" y="4613953"/>
            <a:ext cx="1366862" cy="460417"/>
          </a:xfrm>
          <a:prstGeom prst="rect">
            <a:avLst/>
          </a:prstGeom>
        </p:spPr>
      </p:pic>
      <p:grpSp>
        <p:nvGrpSpPr>
          <p:cNvPr id="36" name="Gruppieren 35"/>
          <p:cNvGrpSpPr/>
          <p:nvPr/>
        </p:nvGrpSpPr>
        <p:grpSpPr>
          <a:xfrm>
            <a:off x="1491532" y="2089166"/>
            <a:ext cx="2010575" cy="1099207"/>
            <a:chOff x="1225342" y="2200357"/>
            <a:chExt cx="2010575" cy="1099207"/>
          </a:xfrm>
        </p:grpSpPr>
        <p:cxnSp>
          <p:nvCxnSpPr>
            <p:cNvPr id="47" name="Gerade Verbindung mit Pfeil 46"/>
            <p:cNvCxnSpPr/>
            <p:nvPr/>
          </p:nvCxnSpPr>
          <p:spPr>
            <a:xfrm flipV="1">
              <a:off x="1225342" y="3295057"/>
              <a:ext cx="1712158" cy="4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mit Pfeil 47"/>
            <p:cNvCxnSpPr/>
            <p:nvPr/>
          </p:nvCxnSpPr>
          <p:spPr>
            <a:xfrm flipV="1">
              <a:off x="1225342" y="2200357"/>
              <a:ext cx="0" cy="10992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hteck 48"/>
            <p:cNvSpPr/>
            <p:nvPr/>
          </p:nvSpPr>
          <p:spPr>
            <a:xfrm>
              <a:off x="1582574" y="2749961"/>
              <a:ext cx="96781" cy="5450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Textfeld 45"/>
            <p:cNvSpPr txBox="1"/>
            <p:nvPr/>
          </p:nvSpPr>
          <p:spPr>
            <a:xfrm>
              <a:off x="2803869" y="2918296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</p:grpSp>
      <p:cxnSp>
        <p:nvCxnSpPr>
          <p:cNvPr id="43" name="Gerade Verbindung mit Pfeil 42"/>
          <p:cNvCxnSpPr>
            <a:stCxn id="34" idx="3"/>
            <a:endCxn id="35" idx="1"/>
          </p:cNvCxnSpPr>
          <p:nvPr/>
        </p:nvCxnSpPr>
        <p:spPr>
          <a:xfrm>
            <a:off x="4976263" y="2915826"/>
            <a:ext cx="42900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uppieren 29"/>
          <p:cNvGrpSpPr/>
          <p:nvPr/>
        </p:nvGrpSpPr>
        <p:grpSpPr>
          <a:xfrm>
            <a:off x="4522250" y="2093673"/>
            <a:ext cx="2010575" cy="1099207"/>
            <a:chOff x="4732050" y="2204864"/>
            <a:chExt cx="2010575" cy="1099207"/>
          </a:xfrm>
        </p:grpSpPr>
        <p:grpSp>
          <p:nvGrpSpPr>
            <p:cNvPr id="28" name="Gruppieren 27"/>
            <p:cNvGrpSpPr/>
            <p:nvPr/>
          </p:nvGrpSpPr>
          <p:grpSpPr>
            <a:xfrm>
              <a:off x="4732050" y="2204864"/>
              <a:ext cx="1712158" cy="1099207"/>
              <a:chOff x="4732050" y="2708920"/>
              <a:chExt cx="1046762" cy="595151"/>
            </a:xfrm>
          </p:grpSpPr>
          <p:cxnSp>
            <p:nvCxnSpPr>
              <p:cNvPr id="32" name="Gerade Verbindung mit Pfeil 31"/>
              <p:cNvCxnSpPr/>
              <p:nvPr/>
            </p:nvCxnSpPr>
            <p:spPr>
              <a:xfrm flipV="1">
                <a:off x="4732050" y="3301631"/>
                <a:ext cx="1046762" cy="244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 Verbindung mit Pfeil 32"/>
              <p:cNvCxnSpPr/>
              <p:nvPr/>
            </p:nvCxnSpPr>
            <p:spPr>
              <a:xfrm flipV="1">
                <a:off x="4732050" y="2708920"/>
                <a:ext cx="0" cy="59515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Rechteck 33"/>
              <p:cNvSpPr/>
              <p:nvPr/>
            </p:nvSpPr>
            <p:spPr>
              <a:xfrm>
                <a:off x="4950451" y="3006496"/>
                <a:ext cx="59169" cy="29513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5" name="Rechteck 34"/>
              <p:cNvSpPr/>
              <p:nvPr/>
            </p:nvSpPr>
            <p:spPr>
              <a:xfrm>
                <a:off x="5271901" y="3006496"/>
                <a:ext cx="59169" cy="29513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29" name="Textfeld 28"/>
            <p:cNvSpPr txBox="1"/>
            <p:nvPr/>
          </p:nvSpPr>
          <p:spPr>
            <a:xfrm>
              <a:off x="6310577" y="2922803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feld 50"/>
              <p:cNvSpPr txBox="1"/>
              <p:nvPr/>
            </p:nvSpPr>
            <p:spPr>
              <a:xfrm>
                <a:off x="4909013" y="2573683"/>
                <a:ext cx="5877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</m:oMath>
                  </m:oMathPara>
                </a14:m>
                <a:endParaRPr lang="de-DE" sz="18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1" name="Textfeld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013" y="2573683"/>
                <a:ext cx="587739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Gerade Verbindung mit Pfeil 57"/>
          <p:cNvCxnSpPr/>
          <p:nvPr/>
        </p:nvCxnSpPr>
        <p:spPr>
          <a:xfrm>
            <a:off x="1892225" y="4109897"/>
            <a:ext cx="3486104" cy="504056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feld 62"/>
              <p:cNvSpPr txBox="1"/>
              <p:nvPr/>
            </p:nvSpPr>
            <p:spPr>
              <a:xfrm rot="480785">
                <a:off x="2972980" y="3917426"/>
                <a:ext cx="5877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𝐿𝑎𝑢𝑓𝑧𝑒𝑖𝑡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∆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</m:oMath>
                  </m:oMathPara>
                </a14:m>
                <a:endParaRPr lang="de-DE" sz="18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extfeld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80785">
                <a:off x="2972980" y="3917426"/>
                <a:ext cx="587739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2857" r="-116190" b="-270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4" name="Gerade Verbindung mit Pfeil 1023"/>
          <p:cNvCxnSpPr/>
          <p:nvPr/>
        </p:nvCxnSpPr>
        <p:spPr>
          <a:xfrm>
            <a:off x="1892225" y="5622065"/>
            <a:ext cx="356143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feld 67"/>
              <p:cNvSpPr txBox="1"/>
              <p:nvPr/>
            </p:nvSpPr>
            <p:spPr>
              <a:xfrm>
                <a:off x="2850429" y="5262025"/>
                <a:ext cx="1630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𝐸𝑛𝑡𝑓𝑒𝑟𝑛𝑢𝑛𝑔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</m:oMath>
                  </m:oMathPara>
                </a14:m>
                <a:endParaRPr lang="de-DE" sz="18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8" name="Textfeld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429" y="5262025"/>
                <a:ext cx="1630756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112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Gerader Verbinder 68"/>
          <p:cNvCxnSpPr/>
          <p:nvPr/>
        </p:nvCxnSpPr>
        <p:spPr>
          <a:xfrm flipV="1">
            <a:off x="7480945" y="4614129"/>
            <a:ext cx="0" cy="1548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Grafik 6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514" y="4613953"/>
            <a:ext cx="1366862" cy="460417"/>
          </a:xfrm>
          <a:prstGeom prst="rect">
            <a:avLst/>
          </a:prstGeom>
        </p:spPr>
      </p:pic>
      <p:cxnSp>
        <p:nvCxnSpPr>
          <p:cNvPr id="1026" name="Gerade Verbindung mit Pfeil 1025"/>
          <p:cNvCxnSpPr/>
          <p:nvPr/>
        </p:nvCxnSpPr>
        <p:spPr>
          <a:xfrm>
            <a:off x="1892225" y="6090129"/>
            <a:ext cx="558872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Gerade Verbindung mit Pfeil 1028"/>
          <p:cNvCxnSpPr/>
          <p:nvPr/>
        </p:nvCxnSpPr>
        <p:spPr>
          <a:xfrm>
            <a:off x="5434306" y="5612777"/>
            <a:ext cx="2052000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feld 74"/>
              <p:cNvSpPr txBox="1"/>
              <p:nvPr/>
            </p:nvSpPr>
            <p:spPr>
              <a:xfrm>
                <a:off x="3598963" y="5694073"/>
                <a:ext cx="21752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𝑃𝑠𝑒𝑢𝑑𝑜𝑟𝑎𝑛𝑔𝑒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(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𝑃𝑆𝑅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de-DE" sz="18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5" name="Textfeld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963" y="5694073"/>
                <a:ext cx="2175243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840" r="-2521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feld 75"/>
              <p:cNvSpPr txBox="1"/>
              <p:nvPr/>
            </p:nvSpPr>
            <p:spPr>
              <a:xfrm>
                <a:off x="5496752" y="5243445"/>
                <a:ext cx="19642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300 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𝑚</m:t>
                      </m:r>
                    </m:oMath>
                  </m:oMathPara>
                </a14:m>
                <a:endParaRPr lang="de-DE" sz="18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6" name="Textfeld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6752" y="5243445"/>
                <a:ext cx="1964273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167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63" grpId="0"/>
      <p:bldP spid="68" grpId="0"/>
      <p:bldP spid="75" grpId="0"/>
      <p:bldP spid="7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Positionsberechnung</a:t>
            </a:r>
            <a:endParaRPr lang="de-DE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uppieren 35"/>
          <p:cNvGrpSpPr/>
          <p:nvPr/>
        </p:nvGrpSpPr>
        <p:grpSpPr>
          <a:xfrm>
            <a:off x="1491532" y="2089166"/>
            <a:ext cx="2010575" cy="1099207"/>
            <a:chOff x="1225342" y="2200357"/>
            <a:chExt cx="2010575" cy="1099207"/>
          </a:xfrm>
        </p:grpSpPr>
        <p:cxnSp>
          <p:nvCxnSpPr>
            <p:cNvPr id="47" name="Gerade Verbindung mit Pfeil 46"/>
            <p:cNvCxnSpPr/>
            <p:nvPr/>
          </p:nvCxnSpPr>
          <p:spPr>
            <a:xfrm flipV="1">
              <a:off x="1225342" y="3295057"/>
              <a:ext cx="1712158" cy="4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mit Pfeil 47"/>
            <p:cNvCxnSpPr/>
            <p:nvPr/>
          </p:nvCxnSpPr>
          <p:spPr>
            <a:xfrm flipV="1">
              <a:off x="1225342" y="2200357"/>
              <a:ext cx="0" cy="10992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hteck 48"/>
            <p:cNvSpPr/>
            <p:nvPr/>
          </p:nvSpPr>
          <p:spPr>
            <a:xfrm>
              <a:off x="1582574" y="2749961"/>
              <a:ext cx="96781" cy="5450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Textfeld 45"/>
            <p:cNvSpPr txBox="1"/>
            <p:nvPr/>
          </p:nvSpPr>
          <p:spPr>
            <a:xfrm>
              <a:off x="2803869" y="2918296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feld 62"/>
              <p:cNvSpPr txBox="1"/>
              <p:nvPr/>
            </p:nvSpPr>
            <p:spPr>
              <a:xfrm rot="480785">
                <a:off x="2967631" y="3993794"/>
                <a:ext cx="1683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𝐿𝑎𝑢𝑓𝑧𝑒𝑖𝑡</m:t>
                    </m:r>
                    <m:r>
                      <a:rPr lang="de-DE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∆</m:t>
                    </m:r>
                    <m:r>
                      <a:rPr lang="de-DE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de-DE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mc:Choice>
        <mc:Fallback xmlns="">
          <p:sp>
            <p:nvSpPr>
              <p:cNvPr id="63" name="Textfeld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80785">
                <a:off x="2967631" y="3993794"/>
                <a:ext cx="1683411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060" b="-121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uppieren 17"/>
          <p:cNvGrpSpPr/>
          <p:nvPr/>
        </p:nvGrpSpPr>
        <p:grpSpPr>
          <a:xfrm>
            <a:off x="1403648" y="2120777"/>
            <a:ext cx="6785148" cy="4068000"/>
            <a:chOff x="1403648" y="2120777"/>
            <a:chExt cx="6785148" cy="4068000"/>
          </a:xfrm>
        </p:grpSpPr>
        <p:cxnSp>
          <p:nvCxnSpPr>
            <p:cNvPr id="60" name="Gerader Verbinder 59"/>
            <p:cNvCxnSpPr/>
            <p:nvPr/>
          </p:nvCxnSpPr>
          <p:spPr>
            <a:xfrm flipV="1">
              <a:off x="1897877" y="2120777"/>
              <a:ext cx="0" cy="4068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/>
            <p:cNvCxnSpPr/>
            <p:nvPr/>
          </p:nvCxnSpPr>
          <p:spPr>
            <a:xfrm>
              <a:off x="1403648" y="5118009"/>
              <a:ext cx="6785148" cy="0"/>
            </a:xfrm>
            <a:prstGeom prst="line">
              <a:avLst/>
            </a:prstGeom>
            <a:ln w="698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9" name="Grafik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7939" y="3807007"/>
              <a:ext cx="908572" cy="1296144"/>
            </a:xfrm>
            <a:prstGeom prst="rect">
              <a:avLst/>
            </a:prstGeom>
          </p:spPr>
        </p:pic>
        <p:cxnSp>
          <p:nvCxnSpPr>
            <p:cNvPr id="1024" name="Gerade Verbindung mit Pfeil 1023"/>
            <p:cNvCxnSpPr/>
            <p:nvPr/>
          </p:nvCxnSpPr>
          <p:spPr>
            <a:xfrm>
              <a:off x="1892225" y="5622065"/>
              <a:ext cx="356143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feld 67"/>
                <p:cNvSpPr txBox="1"/>
                <p:nvPr/>
              </p:nvSpPr>
              <p:spPr>
                <a:xfrm>
                  <a:off x="2850429" y="5262025"/>
                  <a:ext cx="16307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𝐸𝑛𝑡𝑓𝑒𝑟𝑛𝑢𝑛𝑔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oMath>
                    </m:oMathPara>
                  </a14:m>
                  <a:endParaRPr lang="de-DE" sz="1800" dirty="0" smtClean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8" name="Textfeld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0429" y="5262025"/>
                  <a:ext cx="1630756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124" b="-14754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Gerader Verbinder 54"/>
            <p:cNvCxnSpPr/>
            <p:nvPr/>
          </p:nvCxnSpPr>
          <p:spPr>
            <a:xfrm flipV="1">
              <a:off x="5433737" y="2120777"/>
              <a:ext cx="0" cy="3564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Grafik 1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50306" y="4613953"/>
              <a:ext cx="1366862" cy="460417"/>
            </a:xfrm>
            <a:prstGeom prst="rect">
              <a:avLst/>
            </a:prstGeom>
          </p:spPr>
        </p:pic>
      </p:grpSp>
      <p:grpSp>
        <p:nvGrpSpPr>
          <p:cNvPr id="20" name="Gruppieren 19"/>
          <p:cNvGrpSpPr/>
          <p:nvPr/>
        </p:nvGrpSpPr>
        <p:grpSpPr>
          <a:xfrm>
            <a:off x="1892225" y="5694073"/>
            <a:ext cx="5588720" cy="396056"/>
            <a:chOff x="1892225" y="5694073"/>
            <a:chExt cx="5588720" cy="396056"/>
          </a:xfrm>
        </p:grpSpPr>
        <p:cxnSp>
          <p:nvCxnSpPr>
            <p:cNvPr id="1026" name="Gerade Verbindung mit Pfeil 1025"/>
            <p:cNvCxnSpPr/>
            <p:nvPr/>
          </p:nvCxnSpPr>
          <p:spPr>
            <a:xfrm>
              <a:off x="1892225" y="6090129"/>
              <a:ext cx="558872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feld 74"/>
                <p:cNvSpPr txBox="1"/>
                <p:nvPr/>
              </p:nvSpPr>
              <p:spPr>
                <a:xfrm>
                  <a:off x="3598963" y="5694073"/>
                  <a:ext cx="21752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𝐴𝑏𝑠𝑡𝑎𝑛𝑑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oMath>
                    </m:oMathPara>
                  </a14:m>
                  <a:endParaRPr lang="de-DE" sz="1800" dirty="0" smtClean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5" name="Textfeld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8963" y="5694073"/>
                  <a:ext cx="2175243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uppieren 39"/>
          <p:cNvGrpSpPr/>
          <p:nvPr/>
        </p:nvGrpSpPr>
        <p:grpSpPr>
          <a:xfrm>
            <a:off x="7092280" y="2089166"/>
            <a:ext cx="2010575" cy="1099207"/>
            <a:chOff x="4732050" y="2204864"/>
            <a:chExt cx="2010575" cy="1099207"/>
          </a:xfrm>
        </p:grpSpPr>
        <p:grpSp>
          <p:nvGrpSpPr>
            <p:cNvPr id="42" name="Gruppieren 41"/>
            <p:cNvGrpSpPr/>
            <p:nvPr/>
          </p:nvGrpSpPr>
          <p:grpSpPr>
            <a:xfrm>
              <a:off x="4732050" y="2204864"/>
              <a:ext cx="1712158" cy="1099207"/>
              <a:chOff x="4732050" y="2708920"/>
              <a:chExt cx="1046762" cy="595151"/>
            </a:xfrm>
          </p:grpSpPr>
          <p:cxnSp>
            <p:nvCxnSpPr>
              <p:cNvPr id="45" name="Gerade Verbindung mit Pfeil 44"/>
              <p:cNvCxnSpPr/>
              <p:nvPr/>
            </p:nvCxnSpPr>
            <p:spPr>
              <a:xfrm flipV="1">
                <a:off x="4732050" y="3301631"/>
                <a:ext cx="1046762" cy="244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Gerade Verbindung mit Pfeil 49"/>
              <p:cNvCxnSpPr/>
              <p:nvPr/>
            </p:nvCxnSpPr>
            <p:spPr>
              <a:xfrm flipV="1">
                <a:off x="4732050" y="2708920"/>
                <a:ext cx="0" cy="59515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Rechteck 51"/>
              <p:cNvSpPr/>
              <p:nvPr/>
            </p:nvSpPr>
            <p:spPr>
              <a:xfrm>
                <a:off x="4950451" y="3006496"/>
                <a:ext cx="59169" cy="29513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44" name="Textfeld 43"/>
            <p:cNvSpPr txBox="1"/>
            <p:nvPr/>
          </p:nvSpPr>
          <p:spPr>
            <a:xfrm>
              <a:off x="6310577" y="2922803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</p:grpSp>
      <p:grpSp>
        <p:nvGrpSpPr>
          <p:cNvPr id="21" name="Gruppieren 20"/>
          <p:cNvGrpSpPr/>
          <p:nvPr/>
        </p:nvGrpSpPr>
        <p:grpSpPr>
          <a:xfrm>
            <a:off x="4522250" y="1801248"/>
            <a:ext cx="2010575" cy="2349647"/>
            <a:chOff x="4522250" y="1801248"/>
            <a:chExt cx="2010575" cy="2349647"/>
          </a:xfrm>
        </p:grpSpPr>
        <p:cxnSp>
          <p:nvCxnSpPr>
            <p:cNvPr id="32" name="Gerade Verbindung mit Pfeil 31"/>
            <p:cNvCxnSpPr/>
            <p:nvPr/>
          </p:nvCxnSpPr>
          <p:spPr>
            <a:xfrm flipV="1">
              <a:off x="4522250" y="3188373"/>
              <a:ext cx="1712158" cy="4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mit Pfeil 32"/>
            <p:cNvCxnSpPr/>
            <p:nvPr/>
          </p:nvCxnSpPr>
          <p:spPr>
            <a:xfrm flipV="1">
              <a:off x="4522250" y="2093673"/>
              <a:ext cx="0" cy="10992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hteck 33"/>
            <p:cNvSpPr/>
            <p:nvPr/>
          </p:nvSpPr>
          <p:spPr>
            <a:xfrm>
              <a:off x="4879482" y="2643277"/>
              <a:ext cx="96781" cy="5450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Rechteck 34"/>
            <p:cNvSpPr/>
            <p:nvPr/>
          </p:nvSpPr>
          <p:spPr>
            <a:xfrm>
              <a:off x="5405268" y="2643277"/>
              <a:ext cx="96781" cy="54509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Textfeld 28"/>
            <p:cNvSpPr txBox="1"/>
            <p:nvPr/>
          </p:nvSpPr>
          <p:spPr>
            <a:xfrm>
              <a:off x="6100777" y="2811612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cxnSp>
          <p:nvCxnSpPr>
            <p:cNvPr id="43" name="Gerade Verbindung mit Pfeil 42"/>
            <p:cNvCxnSpPr/>
            <p:nvPr/>
          </p:nvCxnSpPr>
          <p:spPr>
            <a:xfrm>
              <a:off x="4932947" y="4077072"/>
              <a:ext cx="52071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feld 50"/>
                <p:cNvSpPr txBox="1"/>
                <p:nvPr/>
              </p:nvSpPr>
              <p:spPr>
                <a:xfrm>
                  <a:off x="4909013" y="3707740"/>
                  <a:ext cx="5877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oMath>
                    </m:oMathPara>
                  </a14:m>
                  <a:endParaRPr lang="de-DE" sz="1800" dirty="0" smtClean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1" name="Textfeld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9013" y="3707740"/>
                  <a:ext cx="587739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Gerader Verbinder 53"/>
            <p:cNvCxnSpPr/>
            <p:nvPr/>
          </p:nvCxnSpPr>
          <p:spPr>
            <a:xfrm flipV="1">
              <a:off x="4932947" y="2116766"/>
              <a:ext cx="3485" cy="203412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hteck 56"/>
            <p:cNvSpPr/>
            <p:nvPr/>
          </p:nvSpPr>
          <p:spPr>
            <a:xfrm>
              <a:off x="5154637" y="2644065"/>
              <a:ext cx="96781" cy="54509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9" name="Gerader Verbinder 58"/>
            <p:cNvCxnSpPr>
              <a:stCxn id="57" idx="2"/>
            </p:cNvCxnSpPr>
            <p:nvPr/>
          </p:nvCxnSpPr>
          <p:spPr>
            <a:xfrm flipV="1">
              <a:off x="5203028" y="2119408"/>
              <a:ext cx="2892" cy="106975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 Verbindung mit Pfeil 60"/>
            <p:cNvCxnSpPr/>
            <p:nvPr/>
          </p:nvCxnSpPr>
          <p:spPr>
            <a:xfrm>
              <a:off x="4932947" y="2170580"/>
              <a:ext cx="27008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feld 61"/>
                <p:cNvSpPr txBox="1"/>
                <p:nvPr/>
              </p:nvSpPr>
              <p:spPr>
                <a:xfrm>
                  <a:off x="4790590" y="1801248"/>
                  <a:ext cx="5877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oMath>
                    </m:oMathPara>
                  </a14:m>
                  <a:endParaRPr lang="de-DE" sz="1800" dirty="0" smtClean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2" name="Textfeld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0590" y="1801248"/>
                  <a:ext cx="587739" cy="36933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uppieren 18"/>
          <p:cNvGrpSpPr/>
          <p:nvPr/>
        </p:nvGrpSpPr>
        <p:grpSpPr>
          <a:xfrm>
            <a:off x="7028654" y="2120400"/>
            <a:ext cx="908572" cy="4068000"/>
            <a:chOff x="7028654" y="2120400"/>
            <a:chExt cx="908572" cy="4068000"/>
          </a:xfrm>
        </p:grpSpPr>
        <p:cxnSp>
          <p:nvCxnSpPr>
            <p:cNvPr id="69" name="Gerader Verbinder 68"/>
            <p:cNvCxnSpPr/>
            <p:nvPr/>
          </p:nvCxnSpPr>
          <p:spPr>
            <a:xfrm flipV="1">
              <a:off x="7480800" y="2120400"/>
              <a:ext cx="0" cy="4068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Grafik 3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8654" y="3800046"/>
              <a:ext cx="908572" cy="1296144"/>
            </a:xfrm>
            <a:prstGeom prst="rect">
              <a:avLst/>
            </a:prstGeom>
          </p:spPr>
        </p:pic>
      </p:grpSp>
      <p:cxnSp>
        <p:nvCxnSpPr>
          <p:cNvPr id="64" name="Gerade Verbindung mit Pfeil 63"/>
          <p:cNvCxnSpPr/>
          <p:nvPr/>
        </p:nvCxnSpPr>
        <p:spPr>
          <a:xfrm flipH="1">
            <a:off x="5774206" y="4118240"/>
            <a:ext cx="1706450" cy="505009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feld 64"/>
              <p:cNvSpPr txBox="1"/>
              <p:nvPr/>
            </p:nvSpPr>
            <p:spPr>
              <a:xfrm rot="20640151">
                <a:off x="5503280" y="4075478"/>
                <a:ext cx="1683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𝐿𝑎𝑢𝑓𝑧𝑒𝑖𝑡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∆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de-DE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</m:oMath>
                  </m:oMathPara>
                </a14:m>
                <a:endParaRPr lang="de-DE" sz="18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5" name="Textfeld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40151">
                <a:off x="5503280" y="4075478"/>
                <a:ext cx="1683411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Gerade Verbindung mit Pfeil 57"/>
          <p:cNvCxnSpPr/>
          <p:nvPr/>
        </p:nvCxnSpPr>
        <p:spPr>
          <a:xfrm>
            <a:off x="1892225" y="4109897"/>
            <a:ext cx="3486104" cy="504056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7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Positionsberechnung</a:t>
            </a:r>
            <a:endParaRPr lang="de-DE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395536" y="3297758"/>
            <a:ext cx="8601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b="1" dirty="0" err="1">
                <a:latin typeface="Arial" panose="020B0604020202020204" pitchFamily="34" charset="0"/>
                <a:cs typeface="Arial" panose="020B0604020202020204" pitchFamily="34" charset="0"/>
              </a:rPr>
              <a:t>Trilateration</a:t>
            </a:r>
            <a:endParaRPr lang="de-DE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437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Positionsberechnung</a:t>
            </a:r>
            <a:endParaRPr lang="de-DE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/>
              <p:cNvSpPr txBox="1"/>
              <p:nvPr/>
            </p:nvSpPr>
            <p:spPr>
              <a:xfrm>
                <a:off x="935331" y="2132856"/>
                <a:ext cx="7521624" cy="3823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𝒑</m:t>
                          </m:r>
                        </m:e>
                        <m:sub>
                          <m:r>
                            <a:rPr lang="de-DE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de-DE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de-DE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de-DE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de-DE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de-DE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de-DE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+</m:t>
                          </m:r>
                          <m:sSup>
                            <m:sSupPr>
                              <m:ctrlPr>
                                <a:rPr lang="de-DE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de-DE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de-DE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de-DE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de-DE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de-DE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de-DE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de-DE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de-DE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de-DE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de-DE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de-DE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de-DE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de-D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de-D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𝒑</m:t>
                      </m:r>
                      <m:r>
                        <a:rPr lang="de-D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 </m:t>
                      </m:r>
                      <m:sSub>
                        <m:sSubPr>
                          <m:ctrlP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𝒆</m:t>
                          </m:r>
                        </m:e>
                        <m:sub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de-DE" sz="54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de-DE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𝒑</m:t>
                      </m:r>
                      <m:r>
                        <a:rPr lang="de-DE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de-D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  <m:r>
                        <a:rPr lang="de-D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∗ </m:t>
                      </m:r>
                      <m:r>
                        <a:rPr lang="de-DE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de-D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</m:oMath>
                  </m:oMathPara>
                </a14:m>
                <a:endParaRPr lang="de-DE" b="1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ctr"/>
                <a:endParaRPr lang="de-DE" b="1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𝒊</m:t>
                      </m:r>
                      <m:r>
                        <a:rPr lang="de-DE" sz="1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de-DE" sz="1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𝑳𝒂𝒖𝒇𝒗𝒂𝒓𝒊𝒂𝒃𝒍𝒆</m:t>
                      </m:r>
                      <m:r>
                        <a:rPr lang="de-DE" sz="1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𝒇</m:t>
                      </m:r>
                      <m:r>
                        <a:rPr lang="de-DE" sz="1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ü</m:t>
                      </m:r>
                      <m:r>
                        <a:rPr lang="de-DE" sz="1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𝒓</m:t>
                      </m:r>
                      <m:r>
                        <a:rPr lang="de-DE" sz="1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𝑺𝒂𝒕𝒆𝒍𝒊𝒕𝒆𝒏𝒏𝒖𝒎𝒎𝒆𝒓𝒊𝒆𝒓𝒖𝒏𝒈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de-DE" sz="1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1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𝒑</m:t>
                          </m:r>
                        </m:e>
                        <m:sub>
                          <m:r>
                            <a:rPr lang="de-DE" sz="1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𝑷𝒔𝒆𝒖𝒅𝒐𝒆𝒏𝒕𝒇𝒆𝒓𝒏𝒖𝒏𝒈𝒆𝒏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de-DE" sz="1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de-DE" sz="1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𝒑𝒔𝒆𝒖𝒅𝒐</m:t>
                          </m:r>
                          <m:r>
                            <a:rPr lang="de-DE" sz="1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de-DE" sz="1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𝒓𝒂𝒏𝒈𝒆𝒔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de-DE" sz="1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/>
                        <m:sub>
                          <m:r>
                            <a:rPr lang="de-DE" sz="1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𝒑</m:t>
                          </m:r>
                        </m:sub>
                      </m:sSub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𝑲𝒐𝒐𝒓𝒅𝒊𝒏𝒂𝒕𝒆𝒏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𝒅𝒆𝒔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𝒛𝒖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𝒃𝒆𝒔𝒕𝒊𝒎𝒎𝒆𝒏𝒅𝒆𝒏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𝑶𝒓𝒕𝒆𝒔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𝒅𝒆𝒔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𝑵𝒖𝒕𝒛𝒆𝒓𝒔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de-DE" sz="1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/>
                        <m:sub>
                          <m:r>
                            <a:rPr lang="de-DE" sz="1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𝑲𝒐𝒐𝒓𝒅𝒊𝒏𝒂𝒕𝒆𝒏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𝒅𝒆𝒔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𝑺𝒂𝒕𝒆𝒍𝒍𝒊𝒕𝒆𝒏</m:t>
                      </m:r>
                    </m:oMath>
                    <m:oMath xmlns:m="http://schemas.openxmlformats.org/officeDocument/2006/math">
                      <m:r>
                        <a:rPr lang="de-DE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𝒑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𝑨𝒃𝒘𝒆𝒊𝒄𝒉𝒖𝒏𝒈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𝒅𝒆𝒓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𝑬𝒏𝒕𝒇𝒆𝒓𝒏𝒖𝒏𝒈</m:t>
                      </m:r>
                    </m:oMath>
                    <m:oMath xmlns:m="http://schemas.openxmlformats.org/officeDocument/2006/math"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𝒁𝒆𝒊𝒕𝒂𝒃𝒘𝒆𝒊𝒄𝒉𝒖𝒏𝒈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𝒅𝒆𝒓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𝑼𝒉𝒓𝒛𝒆𝒊𝒕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𝒅𝒆𝒔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𝑵𝒖𝒕𝒛𝒆𝒓𝒔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de-DE" sz="1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1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</m:t>
                          </m:r>
                        </m:e>
                        <m:sub>
                          <m:r>
                            <a:rPr lang="de-DE" sz="1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𝒛𝒖𝒔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ä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𝒕𝒛𝒍𝒊𝒄𝒉𝒆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𝑭𝒆𝒉𝒍𝒆𝒓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𝒊𝒎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𝑺𝒚𝒔𝒕𝒆𝒎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de-DE" sz="1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1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lang="de-DE" sz="1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𝑳𝒊𝒄𝒉𝒕𝒈𝒆𝒔𝒄𝒉𝒘𝒊𝒏𝒅𝒊𝒈𝒌𝒆𝒊𝒕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(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𝟐𝟗𝟗𝟕𝟗𝟐𝟒𝟓𝟖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/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𝒔</m:t>
                      </m:r>
                      <m:r>
                        <a:rPr lang="de-DE" sz="1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de-DE" sz="18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feld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31" y="2132856"/>
                <a:ext cx="7521624" cy="3823419"/>
              </a:xfrm>
              <a:prstGeom prst="rect">
                <a:avLst/>
              </a:prstGeom>
              <a:blipFill rotWithShape="0">
                <a:blip r:embed="rId3"/>
                <a:stretch>
                  <a:fillRect l="-162" b="-7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9647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Positionsberechnung</a:t>
            </a:r>
            <a:endParaRPr lang="de-DE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167" y="1752600"/>
            <a:ext cx="4505666" cy="465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95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Positionsberechnung</a:t>
            </a:r>
            <a:endParaRPr lang="de-DE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/>
              <p:cNvSpPr txBox="1"/>
              <p:nvPr/>
            </p:nvSpPr>
            <p:spPr>
              <a:xfrm>
                <a:off x="969368" y="2840155"/>
                <a:ext cx="7488832" cy="2597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20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𝒑</m:t>
                          </m:r>
                        </m:e>
                        <m:sub>
                          <m:r>
                            <a:rPr lang="de-DE" sz="20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de-DE" sz="20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de-DE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</m:t>
                              </m:r>
                              <m:r>
                                <a:rPr lang="de-DE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de-DE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de-DE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+</m:t>
                          </m:r>
                          <m:sSup>
                            <m:sSupPr>
                              <m:ctrlP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de-DE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de-DE" sz="20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de-DE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lang="de-DE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  <m:r>
                        <a:rPr lang="de-DE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∗ ∆</m:t>
                      </m:r>
                      <m:r>
                        <a:rPr lang="de-DE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de-D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 </m:t>
                      </m:r>
                      <m:sSub>
                        <m:sSubPr>
                          <m:ctrlPr>
                            <a:rPr lang="de-DE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𝒆</m:t>
                          </m:r>
                        </m:e>
                        <m:sub>
                          <m:r>
                            <a:rPr lang="de-DE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de-DE" sz="20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2000" b="1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𝒑</m:t>
                          </m:r>
                        </m:e>
                        <m:sub>
                          <m:r>
                            <a:rPr lang="de-DE" sz="20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de-DE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de-DE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de-DE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+</m:t>
                          </m:r>
                          <m:sSup>
                            <m:sSupPr>
                              <m:ctrlP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de-DE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de-DE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de-DE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lang="de-DE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  <m:r>
                        <a:rPr lang="de-DE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∗ ∆</m:t>
                      </m:r>
                      <m:r>
                        <a:rPr lang="de-DE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de-DE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 </m:t>
                      </m:r>
                      <m:sSub>
                        <m:sSubPr>
                          <m:ctrlPr>
                            <a:rPr lang="de-DE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𝒆</m:t>
                          </m:r>
                        </m:e>
                        <m:sub>
                          <m:r>
                            <a:rPr lang="de-DE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de-DE" sz="2000" b="1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2000" b="1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𝒑</m:t>
                          </m:r>
                        </m:e>
                        <m:sub>
                          <m:r>
                            <a:rPr lang="de-DE" sz="20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de-DE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de-DE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de-DE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+</m:t>
                          </m:r>
                          <m:sSup>
                            <m:sSupPr>
                              <m:ctrlP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de-DE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de-DE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de-DE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lang="de-DE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  <m:r>
                        <a:rPr lang="de-DE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∗ ∆</m:t>
                      </m:r>
                      <m:r>
                        <a:rPr lang="de-DE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de-DE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 </m:t>
                      </m:r>
                      <m:sSub>
                        <m:sSubPr>
                          <m:ctrlPr>
                            <a:rPr lang="de-DE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𝒆</m:t>
                          </m:r>
                        </m:e>
                        <m:sub>
                          <m:r>
                            <a:rPr lang="de-DE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de-DE" sz="2000" b="1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2000" b="1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𝒑</m:t>
                          </m:r>
                        </m:e>
                        <m:sub>
                          <m:r>
                            <a:rPr lang="de-DE" sz="20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de-DE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de-DE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de-DE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+</m:t>
                          </m:r>
                          <m:sSup>
                            <m:sSupPr>
                              <m:ctrlP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de-DE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de-D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de-DE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de-DE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lang="de-DE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  <m:r>
                        <a:rPr lang="de-DE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∗ ∆</m:t>
                      </m:r>
                      <m:r>
                        <a:rPr lang="de-DE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de-DE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 </m:t>
                      </m:r>
                      <m:sSub>
                        <m:sSubPr>
                          <m:ctrlPr>
                            <a:rPr lang="de-DE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𝒆</m:t>
                          </m:r>
                        </m:e>
                        <m:sub>
                          <m:r>
                            <a:rPr lang="de-DE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de-DE" sz="20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feld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68" y="2840155"/>
                <a:ext cx="7488832" cy="259763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4835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Das System GPS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GPS IIA satelli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4430" y="2072258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2SOPS officers at worksta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005064"/>
            <a:ext cx="2149171" cy="14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avigation system built into a car dashboar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864" y="4005064"/>
            <a:ext cx="1797736" cy="14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Gerade Verbindung mit Pfeil 4"/>
          <p:cNvCxnSpPr/>
          <p:nvPr/>
        </p:nvCxnSpPr>
        <p:spPr>
          <a:xfrm flipV="1">
            <a:off x="2051720" y="2852936"/>
            <a:ext cx="1872208" cy="96773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/>
          <p:nvPr/>
        </p:nvCxnSpPr>
        <p:spPr>
          <a:xfrm>
            <a:off x="5724128" y="2852936"/>
            <a:ext cx="1800200" cy="9677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/>
          <p:cNvSpPr txBox="1"/>
          <p:nvPr/>
        </p:nvSpPr>
        <p:spPr>
          <a:xfrm>
            <a:off x="3490653" y="1629723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Weltraumsegment</a:t>
            </a:r>
          </a:p>
        </p:txBody>
      </p:sp>
      <p:sp>
        <p:nvSpPr>
          <p:cNvPr id="20" name="Textfeld 19"/>
          <p:cNvSpPr txBox="1"/>
          <p:nvPr/>
        </p:nvSpPr>
        <p:spPr>
          <a:xfrm>
            <a:off x="611559" y="5424444"/>
            <a:ext cx="2437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Kontrollsegment</a:t>
            </a:r>
          </a:p>
        </p:txBody>
      </p:sp>
      <p:sp>
        <p:nvSpPr>
          <p:cNvPr id="21" name="Textfeld 20"/>
          <p:cNvSpPr txBox="1"/>
          <p:nvPr/>
        </p:nvSpPr>
        <p:spPr>
          <a:xfrm>
            <a:off x="6396661" y="5424443"/>
            <a:ext cx="2630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Benutzersegment</a:t>
            </a:r>
          </a:p>
        </p:txBody>
      </p:sp>
    </p:spTree>
    <p:extLst>
      <p:ext uri="{BB962C8B-B14F-4D97-AF65-F5344CB8AC3E}">
        <p14:creationId xmlns:p14="http://schemas.microsoft.com/office/powerpoint/2010/main" val="1538330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Weltraumsegment</a:t>
            </a:r>
            <a:endParaRPr lang="de-DE" altLang="de-DE" b="1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22" y="1879648"/>
            <a:ext cx="8160550" cy="4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025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Weltraumsegment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685800" y="2636912"/>
            <a:ext cx="806266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Frutiger 45 Light"/>
              </a:rPr>
              <a:t>Satellitenzeit </a:t>
            </a:r>
            <a:r>
              <a:rPr lang="de-DE" sz="2000" dirty="0">
                <a:solidFill>
                  <a:srgbClr val="000000"/>
                </a:solidFill>
                <a:latin typeface="Frutiger 45 Light"/>
              </a:rPr>
              <a:t>und Synchronisationssignale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Frutiger 45 Light"/>
              </a:rPr>
              <a:t>Präzise </a:t>
            </a:r>
            <a:r>
              <a:rPr lang="de-DE" sz="2000" dirty="0">
                <a:solidFill>
                  <a:srgbClr val="000000"/>
                </a:solidFill>
                <a:latin typeface="Frutiger 45 Light"/>
              </a:rPr>
              <a:t>Bahndaten des Satelliten (Ephemeriden)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Frutiger 45 Light"/>
              </a:rPr>
              <a:t>Zeitkorrekturinformationen </a:t>
            </a:r>
            <a:r>
              <a:rPr lang="de-DE" sz="2000" dirty="0">
                <a:solidFill>
                  <a:srgbClr val="000000"/>
                </a:solidFill>
                <a:latin typeface="Frutiger 45 Light"/>
              </a:rPr>
              <a:t>zur Bestimmung der exakten Satellitenzeit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Frutiger 45 Light"/>
              </a:rPr>
              <a:t>Ungenauere </a:t>
            </a:r>
            <a:r>
              <a:rPr lang="de-DE" sz="2000" dirty="0">
                <a:solidFill>
                  <a:srgbClr val="000000"/>
                </a:solidFill>
                <a:latin typeface="Frutiger 45 Light"/>
              </a:rPr>
              <a:t>Bahndaten aller Satelliten (Almanach)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Frutiger 45 Light"/>
              </a:rPr>
              <a:t>Korrektursignale </a:t>
            </a:r>
            <a:r>
              <a:rPr lang="de-DE" sz="2000" dirty="0">
                <a:solidFill>
                  <a:srgbClr val="000000"/>
                </a:solidFill>
                <a:latin typeface="Frutiger 45 Light"/>
              </a:rPr>
              <a:t>zur Berechnung der Laufzeit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Frutiger 45 Light"/>
              </a:rPr>
              <a:t>Daten </a:t>
            </a:r>
            <a:r>
              <a:rPr lang="de-DE" sz="2000" dirty="0">
                <a:solidFill>
                  <a:srgbClr val="000000"/>
                </a:solidFill>
                <a:latin typeface="Frutiger 45 Light"/>
              </a:rPr>
              <a:t>über die Ionosphäre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Frutiger 45 Light"/>
              </a:rPr>
              <a:t>Informationen </a:t>
            </a:r>
            <a:r>
              <a:rPr lang="de-DE" sz="2000" dirty="0">
                <a:solidFill>
                  <a:srgbClr val="000000"/>
                </a:solidFill>
                <a:latin typeface="Frutiger 45 Light"/>
              </a:rPr>
              <a:t>über den technischen Zustand (Status) der Satelliten </a:t>
            </a:r>
          </a:p>
        </p:txBody>
      </p:sp>
    </p:spTree>
    <p:extLst>
      <p:ext uri="{BB962C8B-B14F-4D97-AF65-F5344CB8AC3E}">
        <p14:creationId xmlns:p14="http://schemas.microsoft.com/office/powerpoint/2010/main" val="3211838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Weltraumsegment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899592" y="2780928"/>
            <a:ext cx="73448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UHF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Band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L1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= 154 · f</a:t>
            </a:r>
            <a:r>
              <a:rPr lang="de-DE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= 1575, 42 </a:t>
            </a: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MHz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L2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= 120 · f</a:t>
            </a:r>
            <a:r>
              <a:rPr lang="de-DE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= 1227, 60 </a:t>
            </a: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MHz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L5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= 115 · f</a:t>
            </a:r>
            <a:r>
              <a:rPr lang="de-DE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= 1176, 45 MHz</a:t>
            </a:r>
            <a:endParaRPr lang="de-DE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8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Weltraumsegment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99" y="3357532"/>
            <a:ext cx="7678801" cy="156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38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Weltraumsegment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71" y="2017920"/>
            <a:ext cx="7475658" cy="424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82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Weltraumsegment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47" y="2321457"/>
            <a:ext cx="7144505" cy="363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42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Kontrollsegment</a:t>
            </a:r>
            <a:endParaRPr lang="de-DE" altLang="de-DE" b="1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810952" y="2492896"/>
            <a:ext cx="7522096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de-DE" sz="2800" dirty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 smtClean="0">
                <a:solidFill>
                  <a:srgbClr val="000000"/>
                </a:solidFill>
                <a:latin typeface="Frutiger 45 Light"/>
              </a:rPr>
              <a:t>Beobachtung </a:t>
            </a:r>
            <a:r>
              <a:rPr lang="de-DE" sz="1800" dirty="0">
                <a:solidFill>
                  <a:srgbClr val="000000"/>
                </a:solidFill>
                <a:latin typeface="Frutiger 45 Light"/>
              </a:rPr>
              <a:t>der Satellitenbewegungen und Berechnung der Bahndaten (Ephemeriden)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 smtClean="0">
                <a:solidFill>
                  <a:srgbClr val="000000"/>
                </a:solidFill>
                <a:latin typeface="Frutiger 45 Light"/>
              </a:rPr>
              <a:t>Überwachung </a:t>
            </a:r>
            <a:r>
              <a:rPr lang="de-DE" sz="1800" dirty="0">
                <a:solidFill>
                  <a:srgbClr val="000000"/>
                </a:solidFill>
                <a:latin typeface="Frutiger 45 Light"/>
              </a:rPr>
              <a:t>der Satellitenuhren und Vorhersage ihres Verhaltens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 smtClean="0">
                <a:solidFill>
                  <a:srgbClr val="000000"/>
                </a:solidFill>
                <a:latin typeface="Frutiger 45 Light"/>
              </a:rPr>
              <a:t>Zeitsynchronisation </a:t>
            </a:r>
            <a:r>
              <a:rPr lang="de-DE" sz="1800" dirty="0">
                <a:solidFill>
                  <a:srgbClr val="000000"/>
                </a:solidFill>
                <a:latin typeface="Frutiger 45 Light"/>
              </a:rPr>
              <a:t>der Satelliten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 smtClean="0">
                <a:solidFill>
                  <a:srgbClr val="000000"/>
                </a:solidFill>
                <a:latin typeface="Frutiger 45 Light"/>
              </a:rPr>
              <a:t>Übermitteln </a:t>
            </a:r>
            <a:r>
              <a:rPr lang="de-DE" sz="1800" dirty="0">
                <a:solidFill>
                  <a:srgbClr val="000000"/>
                </a:solidFill>
                <a:latin typeface="Frutiger 45 Light"/>
              </a:rPr>
              <a:t>der genauen Bahndaten des im Funkkontakt stehenden Satelliten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 smtClean="0">
                <a:solidFill>
                  <a:srgbClr val="000000"/>
                </a:solidFill>
                <a:latin typeface="Frutiger 45 Light"/>
              </a:rPr>
              <a:t>Übermittlung </a:t>
            </a:r>
            <a:r>
              <a:rPr lang="de-DE" sz="1800" dirty="0">
                <a:solidFill>
                  <a:srgbClr val="000000"/>
                </a:solidFill>
                <a:latin typeface="Frutiger 45 Light"/>
              </a:rPr>
              <a:t>der ungenauen Bahndaten aller Satelliten (Almanach)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 smtClean="0">
                <a:solidFill>
                  <a:srgbClr val="000000"/>
                </a:solidFill>
                <a:latin typeface="Frutiger 45 Light"/>
              </a:rPr>
              <a:t>Übermittlung </a:t>
            </a:r>
            <a:r>
              <a:rPr lang="de-DE" sz="1800" dirty="0">
                <a:solidFill>
                  <a:srgbClr val="000000"/>
                </a:solidFill>
                <a:latin typeface="Frutiger 45 Light"/>
              </a:rPr>
              <a:t>weiterer Informationen, sowie technischer Zustand aller Satelliten (Status, Uhrenfehler, usw.). </a:t>
            </a:r>
          </a:p>
        </p:txBody>
      </p:sp>
    </p:spTree>
    <p:extLst>
      <p:ext uri="{BB962C8B-B14F-4D97-AF65-F5344CB8AC3E}">
        <p14:creationId xmlns:p14="http://schemas.microsoft.com/office/powerpoint/2010/main" val="4141809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Kontrollsegment</a:t>
            </a:r>
            <a:endParaRPr lang="de-DE" altLang="de-DE" b="1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11190"/>
              </p:ext>
            </p:extLst>
          </p:nvPr>
        </p:nvGraphicFramePr>
        <p:xfrm>
          <a:off x="4788024" y="3573016"/>
          <a:ext cx="3443486" cy="2380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4" name="Image" r:id="rId4" imgW="4685400" imgH="3237840" progId="Photoshop.Image.13">
                  <p:embed/>
                </p:oleObj>
              </mc:Choice>
              <mc:Fallback>
                <p:oleObj name="Image" r:id="rId4" imgW="4685400" imgH="3237840" progId="Photoshop.Image.1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88024" y="3573016"/>
                        <a:ext cx="3443486" cy="23804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k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183568"/>
              </p:ext>
            </p:extLst>
          </p:nvPr>
        </p:nvGraphicFramePr>
        <p:xfrm>
          <a:off x="1115616" y="2093290"/>
          <a:ext cx="3456384" cy="2389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" name="Image" r:id="rId6" imgW="4685400" imgH="3237840" progId="Photoshop.Image.13">
                  <p:embed/>
                </p:oleObj>
              </mc:Choice>
              <mc:Fallback>
                <p:oleObj name="Image" r:id="rId6" imgW="4685400" imgH="3237840" progId="Photoshop.Image.1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15616" y="2093290"/>
                        <a:ext cx="3456384" cy="23893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2486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Benutzersegment</a:t>
            </a:r>
            <a:endParaRPr lang="de-DE" altLang="de-DE" b="1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46" y="2200581"/>
            <a:ext cx="7676308" cy="387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991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Benutzersegment</a:t>
            </a:r>
            <a:endParaRPr lang="de-DE" altLang="de-DE" b="1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76" y="1752600"/>
            <a:ext cx="7472447" cy="431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82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Benutzersegment</a:t>
            </a:r>
            <a:endParaRPr lang="de-DE" altLang="de-DE" b="1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94" y="2825656"/>
            <a:ext cx="7523212" cy="262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8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Benutzersegment</a:t>
            </a:r>
            <a:endParaRPr lang="de-DE" altLang="de-DE" b="1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904" y="1741167"/>
            <a:ext cx="5994192" cy="478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11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Benutzersegment</a:t>
            </a:r>
            <a:endParaRPr lang="de-DE" altLang="de-DE" b="1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hteck 2"/>
          <p:cNvSpPr/>
          <p:nvPr/>
        </p:nvSpPr>
        <p:spPr>
          <a:xfrm>
            <a:off x="685800" y="2348880"/>
            <a:ext cx="80626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$GPGLL,4717.115,N,00833.912,E,130305.0,A*32&lt;CR&gt;&lt;LF&gt;</a:t>
            </a:r>
            <a:endParaRPr lang="de-D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1259632" y="3016111"/>
            <a:ext cx="777686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Feld 	</a:t>
            </a:r>
            <a:r>
              <a:rPr lang="de-DE" sz="16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Beschreibung </a:t>
            </a:r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 	</a:t>
            </a:r>
            <a:r>
              <a:rPr lang="de-DE" sz="16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Beginn </a:t>
            </a:r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 Datensatzes 	</a:t>
            </a:r>
          </a:p>
          <a:p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 	</a:t>
            </a:r>
            <a:r>
              <a:rPr lang="de-DE" sz="16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Informationen </a:t>
            </a:r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stammen von einem GPS-Gerät 	</a:t>
            </a:r>
          </a:p>
          <a:p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GLL 	</a:t>
            </a:r>
            <a:r>
              <a:rPr lang="de-DE" sz="16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Kennzeichnung </a:t>
            </a:r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 Datensatzes 	</a:t>
            </a:r>
          </a:p>
          <a:p>
            <a:r>
              <a:rPr lang="nn-NO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4717.115 	</a:t>
            </a:r>
            <a:r>
              <a:rPr lang="nn-NO" sz="16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Breite</a:t>
            </a:r>
            <a:r>
              <a:rPr lang="nn-NO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47° 17,115 min 	</a:t>
            </a:r>
          </a:p>
          <a:p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	</a:t>
            </a:r>
            <a:r>
              <a:rPr lang="de-DE" sz="16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nördliche </a:t>
            </a:r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Breiterichtung (N=Nord, S= Süd) 	</a:t>
            </a:r>
          </a:p>
          <a:p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00833.912 	</a:t>
            </a:r>
            <a:r>
              <a:rPr lang="de-DE" sz="16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Länge</a:t>
            </a:r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8° 33,912min 	</a:t>
            </a:r>
          </a:p>
          <a:p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	</a:t>
            </a:r>
            <a:r>
              <a:rPr lang="de-DE" sz="16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östliche </a:t>
            </a:r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Längenrichtung (E=Ost, W=West) 	</a:t>
            </a:r>
          </a:p>
          <a:p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130305.0 	</a:t>
            </a:r>
            <a:r>
              <a:rPr lang="de-DE" sz="16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UTC-Zeit </a:t>
            </a:r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 Position: 13h 03min 05.0sec 	</a:t>
            </a:r>
          </a:p>
          <a:p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	</a:t>
            </a:r>
            <a:r>
              <a:rPr lang="de-DE" sz="16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Qualität </a:t>
            </a:r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 Datensatzes: A bedeutet gültig (V= ungültig) 	</a:t>
            </a:r>
          </a:p>
          <a:p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	</a:t>
            </a:r>
            <a:r>
              <a:rPr lang="de-DE" sz="16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Begrenzungszeichen </a:t>
            </a:r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für die Check-Summe 	</a:t>
            </a:r>
          </a:p>
          <a:p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 	</a:t>
            </a:r>
            <a:r>
              <a:rPr lang="de-DE" sz="16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Checksumme </a:t>
            </a:r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zur Kontrolle des gesamten Datensatzes 	</a:t>
            </a:r>
          </a:p>
          <a:p>
            <a:r>
              <a:rPr lang="de-DE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&lt;CR&gt;&lt;LF&gt; 	Ende des Datensatzes </a:t>
            </a:r>
            <a:r>
              <a:rPr lang="de-DE" sz="1600" dirty="0">
                <a:solidFill>
                  <a:srgbClr val="000000"/>
                </a:solidFill>
                <a:latin typeface="Frutiger 45 Light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323604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Benutzersegment</a:t>
            </a:r>
            <a:endParaRPr lang="de-DE" altLang="de-DE" b="1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1907704" y="2615478"/>
            <a:ext cx="583264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 smtClean="0">
                <a:solidFill>
                  <a:srgbClr val="000000"/>
                </a:solidFill>
                <a:latin typeface="Frutiger 45 Light"/>
              </a:rPr>
              <a:t>UTC</a:t>
            </a:r>
          </a:p>
          <a:p>
            <a:r>
              <a:rPr lang="de-DE" b="1" dirty="0">
                <a:solidFill>
                  <a:srgbClr val="000000"/>
                </a:solidFill>
                <a:latin typeface="Frutiger 45 Light"/>
              </a:rPr>
              <a:t>	</a:t>
            </a:r>
            <a:r>
              <a:rPr lang="de-DE" sz="2000" dirty="0">
                <a:solidFill>
                  <a:srgbClr val="000000"/>
                </a:solidFill>
                <a:latin typeface="Frutiger 45 Light"/>
              </a:rPr>
              <a:t>die koordinierte Weltzeit</a:t>
            </a:r>
            <a:endParaRPr lang="de-DE" dirty="0">
              <a:solidFill>
                <a:srgbClr val="000000"/>
              </a:solidFill>
              <a:latin typeface="Frutiger 45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 smtClean="0">
                <a:solidFill>
                  <a:srgbClr val="000000"/>
                </a:solidFill>
                <a:latin typeface="Frutiger 45 Light"/>
              </a:rPr>
              <a:t>GPS-Zeit</a:t>
            </a:r>
          </a:p>
          <a:p>
            <a:r>
              <a:rPr lang="de-DE" b="1" dirty="0">
                <a:solidFill>
                  <a:srgbClr val="000000"/>
                </a:solidFill>
                <a:latin typeface="Frutiger 45 Light"/>
              </a:rPr>
              <a:t>	</a:t>
            </a:r>
            <a:r>
              <a:rPr lang="de-DE" sz="1800" dirty="0">
                <a:solidFill>
                  <a:srgbClr val="000000"/>
                </a:solidFill>
                <a:latin typeface="Frutiger 45 Light"/>
              </a:rPr>
              <a:t>Zeitsystem von GPS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 smtClean="0">
                <a:solidFill>
                  <a:srgbClr val="000000"/>
                </a:solidFill>
                <a:latin typeface="Frutiger 45 Light"/>
              </a:rPr>
              <a:t>Satelliten-Zeit</a:t>
            </a:r>
          </a:p>
          <a:p>
            <a:r>
              <a:rPr lang="de-DE" b="1" dirty="0">
                <a:solidFill>
                  <a:srgbClr val="000000"/>
                </a:solidFill>
                <a:latin typeface="Frutiger 45 Light"/>
              </a:rPr>
              <a:t>	</a:t>
            </a:r>
            <a:r>
              <a:rPr lang="de-DE" sz="1800" dirty="0">
                <a:solidFill>
                  <a:srgbClr val="000000"/>
                </a:solidFill>
                <a:latin typeface="Frutiger 45 Light"/>
              </a:rPr>
              <a:t>Abweichung Satelliten-Zeit zur GPS-Zeit</a:t>
            </a:r>
            <a:endParaRPr lang="de-DE" sz="1800" dirty="0" smtClean="0">
              <a:solidFill>
                <a:srgbClr val="000000"/>
              </a:solidFill>
              <a:latin typeface="Frutiger 45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 smtClean="0">
                <a:solidFill>
                  <a:srgbClr val="000000"/>
                </a:solidFill>
                <a:latin typeface="Frutiger 45 Light"/>
              </a:rPr>
              <a:t>Empfänger-Zeit</a:t>
            </a:r>
          </a:p>
          <a:p>
            <a:r>
              <a:rPr lang="de-DE" b="1" dirty="0">
                <a:solidFill>
                  <a:srgbClr val="000000"/>
                </a:solidFill>
                <a:latin typeface="Frutiger 45 Light"/>
              </a:rPr>
              <a:t>	</a:t>
            </a:r>
            <a:r>
              <a:rPr lang="de-DE" sz="1800" dirty="0">
                <a:solidFill>
                  <a:srgbClr val="000000"/>
                </a:solidFill>
                <a:latin typeface="Frutiger 45 Light"/>
              </a:rPr>
              <a:t>Zeit innerhalb eines GPS-Empfängers</a:t>
            </a:r>
          </a:p>
        </p:txBody>
      </p:sp>
    </p:spTree>
    <p:extLst>
      <p:ext uri="{BB962C8B-B14F-4D97-AF65-F5344CB8AC3E}">
        <p14:creationId xmlns:p14="http://schemas.microsoft.com/office/powerpoint/2010/main" val="147206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/>
          <p:cNvSpPr>
            <a:spLocks noChangeAspect="1" noChangeArrowheads="1" noTextEdit="1"/>
          </p:cNvSpPr>
          <p:nvPr/>
        </p:nvSpPr>
        <p:spPr bwMode="auto">
          <a:xfrm>
            <a:off x="842963" y="2455863"/>
            <a:ext cx="74580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pSp>
        <p:nvGrpSpPr>
          <p:cNvPr id="81" name="Gruppieren 80"/>
          <p:cNvGrpSpPr/>
          <p:nvPr/>
        </p:nvGrpSpPr>
        <p:grpSpPr>
          <a:xfrm>
            <a:off x="857251" y="5080001"/>
            <a:ext cx="4948238" cy="644525"/>
            <a:chOff x="857251" y="5080001"/>
            <a:chExt cx="4948238" cy="644525"/>
          </a:xfrm>
        </p:grpSpPr>
        <p:sp>
          <p:nvSpPr>
            <p:cNvPr id="30" name="Rectangle 26"/>
            <p:cNvSpPr>
              <a:spLocks noChangeArrowheads="1"/>
            </p:cNvSpPr>
            <p:nvPr/>
          </p:nvSpPr>
          <p:spPr bwMode="auto">
            <a:xfrm>
              <a:off x="857251" y="5080001"/>
              <a:ext cx="2473325" cy="641350"/>
            </a:xfrm>
            <a:prstGeom prst="rect">
              <a:avLst/>
            </a:prstGeom>
            <a:solidFill>
              <a:srgbClr val="E2F4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Rectangle 27"/>
            <p:cNvSpPr>
              <a:spLocks noChangeArrowheads="1"/>
            </p:cNvSpPr>
            <p:nvPr/>
          </p:nvSpPr>
          <p:spPr bwMode="auto">
            <a:xfrm>
              <a:off x="3330576" y="5080001"/>
              <a:ext cx="2474913" cy="641350"/>
            </a:xfrm>
            <a:prstGeom prst="rect">
              <a:avLst/>
            </a:prstGeom>
            <a:solidFill>
              <a:srgbClr val="E2F4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0" name="Rectangle 66"/>
            <p:cNvSpPr>
              <a:spLocks noChangeArrowheads="1"/>
            </p:cNvSpPr>
            <p:nvPr/>
          </p:nvSpPr>
          <p:spPr bwMode="auto">
            <a:xfrm>
              <a:off x="947738" y="5143501"/>
              <a:ext cx="1090613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Selektive 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1" name="Rectangle 67"/>
            <p:cNvSpPr>
              <a:spLocks noChangeArrowheads="1"/>
            </p:cNvSpPr>
            <p:nvPr/>
          </p:nvSpPr>
          <p:spPr bwMode="auto">
            <a:xfrm>
              <a:off x="947738" y="5418138"/>
              <a:ext cx="1457325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Verfügbarkeit</a:t>
              </a:r>
              <a:endParaRPr kumimoji="0" lang="de-DE" altLang="de-DE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2" name="Rectangle 68"/>
            <p:cNvSpPr>
              <a:spLocks noChangeArrowheads="1"/>
            </p:cNvSpPr>
            <p:nvPr/>
          </p:nvSpPr>
          <p:spPr bwMode="auto">
            <a:xfrm>
              <a:off x="3424238" y="5143501"/>
              <a:ext cx="608013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30 m</a:t>
              </a:r>
              <a:endParaRPr kumimoji="0" lang="de-DE" altLang="de-DE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Fehlerquellen</a:t>
            </a:r>
            <a:endParaRPr lang="de-DE" altLang="de-DE" b="1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4" name="Gruppieren 73"/>
          <p:cNvGrpSpPr/>
          <p:nvPr/>
        </p:nvGrpSpPr>
        <p:grpSpPr>
          <a:xfrm>
            <a:off x="857251" y="2484438"/>
            <a:ext cx="4948238" cy="374651"/>
            <a:chOff x="857251" y="2484438"/>
            <a:chExt cx="4948238" cy="374651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857251" y="2484438"/>
              <a:ext cx="2473325" cy="371475"/>
            </a:xfrm>
            <a:prstGeom prst="rect">
              <a:avLst/>
            </a:prstGeom>
            <a:solidFill>
              <a:srgbClr val="F1F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3330576" y="2484438"/>
              <a:ext cx="2474913" cy="371475"/>
            </a:xfrm>
            <a:prstGeom prst="rect">
              <a:avLst/>
            </a:prstGeom>
            <a:solidFill>
              <a:srgbClr val="F1F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Rectangle 42"/>
            <p:cNvSpPr>
              <a:spLocks noChangeArrowheads="1"/>
            </p:cNvSpPr>
            <p:nvPr/>
          </p:nvSpPr>
          <p:spPr bwMode="auto">
            <a:xfrm>
              <a:off x="3424238" y="2543176"/>
              <a:ext cx="592138" cy="315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GPS</a:t>
              </a:r>
              <a:endParaRPr kumimoji="0" lang="de-DE" altLang="de-DE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2" name="Gruppieren 81"/>
          <p:cNvGrpSpPr/>
          <p:nvPr/>
        </p:nvGrpSpPr>
        <p:grpSpPr>
          <a:xfrm>
            <a:off x="5805488" y="2484438"/>
            <a:ext cx="2476500" cy="374651"/>
            <a:chOff x="5805488" y="2484438"/>
            <a:chExt cx="2476500" cy="374651"/>
          </a:xfrm>
        </p:grpSpPr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5805488" y="2484438"/>
              <a:ext cx="2476500" cy="373063"/>
            </a:xfrm>
            <a:prstGeom prst="rect">
              <a:avLst/>
            </a:prstGeom>
            <a:solidFill>
              <a:srgbClr val="F1F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7" name="Rectangle 43"/>
            <p:cNvSpPr>
              <a:spLocks noChangeArrowheads="1"/>
            </p:cNvSpPr>
            <p:nvPr/>
          </p:nvSpPr>
          <p:spPr bwMode="auto">
            <a:xfrm>
              <a:off x="5897563" y="2543176"/>
              <a:ext cx="2166938" cy="315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Differentielles GPS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75" name="Gruppieren 74"/>
          <p:cNvGrpSpPr/>
          <p:nvPr/>
        </p:nvGrpSpPr>
        <p:grpSpPr>
          <a:xfrm>
            <a:off x="857251" y="2855913"/>
            <a:ext cx="4948238" cy="371475"/>
            <a:chOff x="857251" y="2855913"/>
            <a:chExt cx="4948238" cy="371475"/>
          </a:xfrm>
        </p:grpSpPr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857251" y="2855913"/>
              <a:ext cx="2473325" cy="371475"/>
            </a:xfrm>
            <a:prstGeom prst="rect">
              <a:avLst/>
            </a:prstGeom>
            <a:solidFill>
              <a:srgbClr val="E2F4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3330576" y="2855913"/>
              <a:ext cx="2474913" cy="371475"/>
            </a:xfrm>
            <a:prstGeom prst="rect">
              <a:avLst/>
            </a:prstGeom>
            <a:solidFill>
              <a:srgbClr val="E2F4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8" name="Rectangle 44"/>
            <p:cNvSpPr>
              <a:spLocks noChangeArrowheads="1"/>
            </p:cNvSpPr>
            <p:nvPr/>
          </p:nvSpPr>
          <p:spPr bwMode="auto">
            <a:xfrm>
              <a:off x="947738" y="2919413"/>
              <a:ext cx="1620838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Satellitenuhren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Rectangle 45"/>
            <p:cNvSpPr>
              <a:spLocks noChangeArrowheads="1"/>
            </p:cNvSpPr>
            <p:nvPr/>
          </p:nvSpPr>
          <p:spPr bwMode="auto">
            <a:xfrm>
              <a:off x="3424238" y="2919413"/>
              <a:ext cx="671513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1,5 m</a:t>
              </a:r>
              <a:endParaRPr kumimoji="0" lang="de-DE" altLang="de-DE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3" name="Gruppieren 82"/>
          <p:cNvGrpSpPr/>
          <p:nvPr/>
        </p:nvGrpSpPr>
        <p:grpSpPr>
          <a:xfrm>
            <a:off x="5805488" y="2857501"/>
            <a:ext cx="2476500" cy="369888"/>
            <a:chOff x="5805488" y="2857501"/>
            <a:chExt cx="2476500" cy="369888"/>
          </a:xfrm>
        </p:grpSpPr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5805488" y="2857501"/>
              <a:ext cx="2476500" cy="369888"/>
            </a:xfrm>
            <a:prstGeom prst="rect">
              <a:avLst/>
            </a:prstGeom>
            <a:solidFill>
              <a:srgbClr val="E2F4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5897563" y="2919413"/>
              <a:ext cx="671513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0,0 m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76" name="Gruppieren 75"/>
          <p:cNvGrpSpPr/>
          <p:nvPr/>
        </p:nvGrpSpPr>
        <p:grpSpPr>
          <a:xfrm>
            <a:off x="857251" y="3227388"/>
            <a:ext cx="4948238" cy="369888"/>
            <a:chOff x="857251" y="3227388"/>
            <a:chExt cx="4948238" cy="369888"/>
          </a:xfrm>
        </p:grpSpPr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857251" y="3227388"/>
              <a:ext cx="2473325" cy="369888"/>
            </a:xfrm>
            <a:prstGeom prst="rect">
              <a:avLst/>
            </a:prstGeom>
            <a:solidFill>
              <a:srgbClr val="F1F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3330576" y="3227388"/>
              <a:ext cx="2474913" cy="369888"/>
            </a:xfrm>
            <a:prstGeom prst="rect">
              <a:avLst/>
            </a:prstGeom>
            <a:solidFill>
              <a:srgbClr val="F1F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Rectangle 47"/>
            <p:cNvSpPr>
              <a:spLocks noChangeArrowheads="1"/>
            </p:cNvSpPr>
            <p:nvPr/>
          </p:nvSpPr>
          <p:spPr bwMode="auto">
            <a:xfrm>
              <a:off x="947738" y="3289301"/>
              <a:ext cx="1203325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Bahnfehler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Rectangle 48"/>
            <p:cNvSpPr>
              <a:spLocks noChangeArrowheads="1"/>
            </p:cNvSpPr>
            <p:nvPr/>
          </p:nvSpPr>
          <p:spPr bwMode="auto">
            <a:xfrm>
              <a:off x="3424238" y="3289301"/>
              <a:ext cx="671513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2,5 m</a:t>
              </a:r>
              <a:endParaRPr kumimoji="0" lang="de-DE" altLang="de-DE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4" name="Gruppieren 83"/>
          <p:cNvGrpSpPr/>
          <p:nvPr/>
        </p:nvGrpSpPr>
        <p:grpSpPr>
          <a:xfrm>
            <a:off x="5805488" y="3227388"/>
            <a:ext cx="2476500" cy="369888"/>
            <a:chOff x="5805488" y="3227388"/>
            <a:chExt cx="2476500" cy="369888"/>
          </a:xfrm>
        </p:grpSpPr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5805488" y="3227388"/>
              <a:ext cx="2476500" cy="369888"/>
            </a:xfrm>
            <a:prstGeom prst="rect">
              <a:avLst/>
            </a:prstGeom>
            <a:solidFill>
              <a:srgbClr val="F1F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3" name="Rectangle 49"/>
            <p:cNvSpPr>
              <a:spLocks noChangeArrowheads="1"/>
            </p:cNvSpPr>
            <p:nvPr/>
          </p:nvSpPr>
          <p:spPr bwMode="auto">
            <a:xfrm>
              <a:off x="5897563" y="3289301"/>
              <a:ext cx="671513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0,0 m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77" name="Gruppieren 76"/>
          <p:cNvGrpSpPr/>
          <p:nvPr/>
        </p:nvGrpSpPr>
        <p:grpSpPr>
          <a:xfrm>
            <a:off x="857251" y="3597276"/>
            <a:ext cx="4948238" cy="369888"/>
            <a:chOff x="857251" y="3597276"/>
            <a:chExt cx="4948238" cy="369888"/>
          </a:xfrm>
        </p:grpSpPr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857251" y="3597276"/>
              <a:ext cx="2473325" cy="369888"/>
            </a:xfrm>
            <a:prstGeom prst="rect">
              <a:avLst/>
            </a:prstGeom>
            <a:solidFill>
              <a:srgbClr val="E2F4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3330576" y="3597276"/>
              <a:ext cx="2474913" cy="369888"/>
            </a:xfrm>
            <a:prstGeom prst="rect">
              <a:avLst/>
            </a:prstGeom>
            <a:solidFill>
              <a:srgbClr val="E2F4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4" name="Rectangle 50"/>
            <p:cNvSpPr>
              <a:spLocks noChangeArrowheads="1"/>
            </p:cNvSpPr>
            <p:nvPr/>
          </p:nvSpPr>
          <p:spPr bwMode="auto">
            <a:xfrm>
              <a:off x="947738" y="3660776"/>
              <a:ext cx="1241425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Ionosphäre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Rectangle 51"/>
            <p:cNvSpPr>
              <a:spLocks noChangeArrowheads="1"/>
            </p:cNvSpPr>
            <p:nvPr/>
          </p:nvSpPr>
          <p:spPr bwMode="auto">
            <a:xfrm>
              <a:off x="3424238" y="3660776"/>
              <a:ext cx="671513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5,0 m</a:t>
              </a:r>
              <a:endParaRPr kumimoji="0" lang="de-DE" altLang="de-DE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5" name="Gruppieren 84"/>
          <p:cNvGrpSpPr/>
          <p:nvPr/>
        </p:nvGrpSpPr>
        <p:grpSpPr>
          <a:xfrm>
            <a:off x="5805488" y="3597276"/>
            <a:ext cx="2476500" cy="371475"/>
            <a:chOff x="5805488" y="3597276"/>
            <a:chExt cx="2476500" cy="371475"/>
          </a:xfrm>
        </p:grpSpPr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5805488" y="3597276"/>
              <a:ext cx="2476500" cy="371475"/>
            </a:xfrm>
            <a:prstGeom prst="rect">
              <a:avLst/>
            </a:prstGeom>
            <a:solidFill>
              <a:srgbClr val="E2F4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Rectangle 52"/>
            <p:cNvSpPr>
              <a:spLocks noChangeArrowheads="1"/>
            </p:cNvSpPr>
            <p:nvPr/>
          </p:nvSpPr>
          <p:spPr bwMode="auto">
            <a:xfrm>
              <a:off x="5897563" y="3660776"/>
              <a:ext cx="671513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0,4 m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78" name="Gruppieren 77"/>
          <p:cNvGrpSpPr/>
          <p:nvPr/>
        </p:nvGrpSpPr>
        <p:grpSpPr>
          <a:xfrm>
            <a:off x="857251" y="3967163"/>
            <a:ext cx="4948238" cy="373063"/>
            <a:chOff x="857251" y="3967163"/>
            <a:chExt cx="4948238" cy="373063"/>
          </a:xfrm>
        </p:grpSpPr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857251" y="3967163"/>
              <a:ext cx="2473325" cy="373063"/>
            </a:xfrm>
            <a:prstGeom prst="rect">
              <a:avLst/>
            </a:prstGeom>
            <a:solidFill>
              <a:srgbClr val="F1F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3330576" y="3967163"/>
              <a:ext cx="2474913" cy="373063"/>
            </a:xfrm>
            <a:prstGeom prst="rect">
              <a:avLst/>
            </a:prstGeom>
            <a:solidFill>
              <a:srgbClr val="F1F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Rectangle 53"/>
            <p:cNvSpPr>
              <a:spLocks noChangeArrowheads="1"/>
            </p:cNvSpPr>
            <p:nvPr/>
          </p:nvSpPr>
          <p:spPr bwMode="auto">
            <a:xfrm>
              <a:off x="947738" y="4030663"/>
              <a:ext cx="1395413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Troposphäre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54"/>
            <p:cNvSpPr>
              <a:spLocks noChangeArrowheads="1"/>
            </p:cNvSpPr>
            <p:nvPr/>
          </p:nvSpPr>
          <p:spPr bwMode="auto">
            <a:xfrm>
              <a:off x="3424238" y="4030663"/>
              <a:ext cx="671513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0,5 m</a:t>
              </a:r>
              <a:endParaRPr kumimoji="0" lang="de-DE" altLang="de-DE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6" name="Gruppieren 85"/>
          <p:cNvGrpSpPr/>
          <p:nvPr/>
        </p:nvGrpSpPr>
        <p:grpSpPr>
          <a:xfrm>
            <a:off x="5805488" y="3968751"/>
            <a:ext cx="2476500" cy="371475"/>
            <a:chOff x="5805488" y="3968751"/>
            <a:chExt cx="2476500" cy="371475"/>
          </a:xfrm>
        </p:grpSpPr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5805488" y="3968751"/>
              <a:ext cx="2476500" cy="371475"/>
            </a:xfrm>
            <a:prstGeom prst="rect">
              <a:avLst/>
            </a:prstGeom>
            <a:solidFill>
              <a:srgbClr val="F1F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9" name="Rectangle 55"/>
            <p:cNvSpPr>
              <a:spLocks noChangeArrowheads="1"/>
            </p:cNvSpPr>
            <p:nvPr/>
          </p:nvSpPr>
          <p:spPr bwMode="auto">
            <a:xfrm>
              <a:off x="5897563" y="4030663"/>
              <a:ext cx="671513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0,2 m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91" name="Gruppieren 90"/>
          <p:cNvGrpSpPr/>
          <p:nvPr/>
        </p:nvGrpSpPr>
        <p:grpSpPr>
          <a:xfrm>
            <a:off x="857251" y="4340226"/>
            <a:ext cx="4948238" cy="369888"/>
            <a:chOff x="857251" y="4340226"/>
            <a:chExt cx="4948238" cy="369888"/>
          </a:xfrm>
        </p:grpSpPr>
        <p:grpSp>
          <p:nvGrpSpPr>
            <p:cNvPr id="79" name="Gruppieren 78"/>
            <p:cNvGrpSpPr/>
            <p:nvPr/>
          </p:nvGrpSpPr>
          <p:grpSpPr>
            <a:xfrm>
              <a:off x="857251" y="4340226"/>
              <a:ext cx="4948238" cy="369888"/>
              <a:chOff x="857251" y="4340226"/>
              <a:chExt cx="4948238" cy="369888"/>
            </a:xfrm>
          </p:grpSpPr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857251" y="4340226"/>
                <a:ext cx="2473325" cy="369888"/>
              </a:xfrm>
              <a:prstGeom prst="rect">
                <a:avLst/>
              </a:prstGeom>
              <a:solidFill>
                <a:srgbClr val="E2F4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3330576" y="4340226"/>
                <a:ext cx="2474913" cy="369888"/>
              </a:xfrm>
              <a:prstGeom prst="rect">
                <a:avLst/>
              </a:prstGeom>
              <a:solidFill>
                <a:srgbClr val="E2F4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0" name="Rectangle 56"/>
              <p:cNvSpPr>
                <a:spLocks noChangeArrowheads="1"/>
              </p:cNvSpPr>
              <p:nvPr/>
            </p:nvSpPr>
            <p:spPr bwMode="auto">
              <a:xfrm>
                <a:off x="947738" y="4402138"/>
                <a:ext cx="1216025" cy="306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8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Empfänger</a:t>
                </a:r>
                <a:endParaRPr kumimoji="0" lang="de-DE" altLang="de-DE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2" name="Rectangle 58"/>
              <p:cNvSpPr>
                <a:spLocks noChangeArrowheads="1"/>
              </p:cNvSpPr>
              <p:nvPr/>
            </p:nvSpPr>
            <p:spPr bwMode="auto">
              <a:xfrm>
                <a:off x="2139951" y="4402138"/>
                <a:ext cx="1127125" cy="306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8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Rauschen</a:t>
                </a:r>
                <a:endParaRPr kumimoji="0" lang="de-DE" altLang="de-DE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3" name="Rectangle 59"/>
              <p:cNvSpPr>
                <a:spLocks noChangeArrowheads="1"/>
              </p:cNvSpPr>
              <p:nvPr/>
            </p:nvSpPr>
            <p:spPr bwMode="auto">
              <a:xfrm>
                <a:off x="3424238" y="4402138"/>
                <a:ext cx="671513" cy="306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0,3 m</a:t>
                </a:r>
                <a:endParaRPr kumimoji="0" lang="de-DE" altLang="de-DE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1" name="Rectangle 57"/>
            <p:cNvSpPr>
              <a:spLocks noChangeArrowheads="1"/>
            </p:cNvSpPr>
            <p:nvPr/>
          </p:nvSpPr>
          <p:spPr bwMode="auto">
            <a:xfrm>
              <a:off x="2063751" y="4402138"/>
              <a:ext cx="176213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-</a:t>
              </a:r>
              <a:endParaRPr kumimoji="0" lang="de-DE" altLang="de-DE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7" name="Gruppieren 86"/>
          <p:cNvGrpSpPr/>
          <p:nvPr/>
        </p:nvGrpSpPr>
        <p:grpSpPr>
          <a:xfrm>
            <a:off x="5805488" y="4340226"/>
            <a:ext cx="2476500" cy="369888"/>
            <a:chOff x="5805488" y="4340226"/>
            <a:chExt cx="2476500" cy="369888"/>
          </a:xfrm>
        </p:grpSpPr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5805488" y="4340226"/>
              <a:ext cx="2476500" cy="369888"/>
            </a:xfrm>
            <a:prstGeom prst="rect">
              <a:avLst/>
            </a:prstGeom>
            <a:solidFill>
              <a:srgbClr val="E2F4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4" name="Rectangle 60"/>
            <p:cNvSpPr>
              <a:spLocks noChangeArrowheads="1"/>
            </p:cNvSpPr>
            <p:nvPr/>
          </p:nvSpPr>
          <p:spPr bwMode="auto">
            <a:xfrm>
              <a:off x="5897563" y="4402138"/>
              <a:ext cx="671513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0,3 m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90" name="Gruppieren 89"/>
          <p:cNvGrpSpPr/>
          <p:nvPr/>
        </p:nvGrpSpPr>
        <p:grpSpPr>
          <a:xfrm>
            <a:off x="857251" y="4710113"/>
            <a:ext cx="4948238" cy="369888"/>
            <a:chOff x="857251" y="4710113"/>
            <a:chExt cx="4948238" cy="369888"/>
          </a:xfrm>
        </p:grpSpPr>
        <p:grpSp>
          <p:nvGrpSpPr>
            <p:cNvPr id="80" name="Gruppieren 79"/>
            <p:cNvGrpSpPr/>
            <p:nvPr/>
          </p:nvGrpSpPr>
          <p:grpSpPr>
            <a:xfrm>
              <a:off x="857251" y="4710113"/>
              <a:ext cx="4948238" cy="369888"/>
              <a:chOff x="857251" y="4710113"/>
              <a:chExt cx="4948238" cy="369888"/>
            </a:xfrm>
          </p:grpSpPr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857251" y="4710113"/>
                <a:ext cx="2473325" cy="369888"/>
              </a:xfrm>
              <a:prstGeom prst="rect">
                <a:avLst/>
              </a:prstGeom>
              <a:solidFill>
                <a:srgbClr val="F1FA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>
                <a:off x="3330576" y="4710113"/>
                <a:ext cx="2474913" cy="369888"/>
              </a:xfrm>
              <a:prstGeom prst="rect">
                <a:avLst/>
              </a:prstGeom>
              <a:solidFill>
                <a:srgbClr val="F1FA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" name="Rectangle 61"/>
              <p:cNvSpPr>
                <a:spLocks noChangeArrowheads="1"/>
              </p:cNvSpPr>
              <p:nvPr/>
            </p:nvSpPr>
            <p:spPr bwMode="auto">
              <a:xfrm>
                <a:off x="947738" y="4773613"/>
                <a:ext cx="1033463" cy="306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800" b="0" i="0" u="none" strike="noStrike" cap="none" normalizeH="0" baseline="0" dirty="0" err="1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Mehrweg</a:t>
                </a:r>
                <a:endParaRPr kumimoji="0" lang="de-DE" altLang="de-DE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7" name="Rectangle 63"/>
              <p:cNvSpPr>
                <a:spLocks noChangeArrowheads="1"/>
              </p:cNvSpPr>
              <p:nvPr/>
            </p:nvSpPr>
            <p:spPr bwMode="auto">
              <a:xfrm>
                <a:off x="1957388" y="4773613"/>
                <a:ext cx="746125" cy="306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8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Fehler</a:t>
                </a:r>
                <a:endParaRPr kumimoji="0" lang="de-DE" altLang="de-DE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8" name="Rectangle 64"/>
              <p:cNvSpPr>
                <a:spLocks noChangeArrowheads="1"/>
              </p:cNvSpPr>
              <p:nvPr/>
            </p:nvSpPr>
            <p:spPr bwMode="auto">
              <a:xfrm>
                <a:off x="3424238" y="4773613"/>
                <a:ext cx="671513" cy="306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0,6 m</a:t>
                </a:r>
                <a:endParaRPr kumimoji="0" lang="de-DE" altLang="de-DE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6" name="Rectangle 62"/>
            <p:cNvSpPr>
              <a:spLocks noChangeArrowheads="1"/>
            </p:cNvSpPr>
            <p:nvPr/>
          </p:nvSpPr>
          <p:spPr bwMode="auto">
            <a:xfrm>
              <a:off x="1881188" y="4773613"/>
              <a:ext cx="176213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-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8" name="Gruppieren 87"/>
          <p:cNvGrpSpPr/>
          <p:nvPr/>
        </p:nvGrpSpPr>
        <p:grpSpPr>
          <a:xfrm>
            <a:off x="5805488" y="4710113"/>
            <a:ext cx="2476500" cy="371475"/>
            <a:chOff x="5805488" y="4710113"/>
            <a:chExt cx="2476500" cy="371475"/>
          </a:xfrm>
        </p:grpSpPr>
        <p:sp>
          <p:nvSpPr>
            <p:cNvPr id="29" name="Rectangle 25"/>
            <p:cNvSpPr>
              <a:spLocks noChangeArrowheads="1"/>
            </p:cNvSpPr>
            <p:nvPr/>
          </p:nvSpPr>
          <p:spPr bwMode="auto">
            <a:xfrm>
              <a:off x="5805488" y="4710113"/>
              <a:ext cx="2476500" cy="371475"/>
            </a:xfrm>
            <a:prstGeom prst="rect">
              <a:avLst/>
            </a:prstGeom>
            <a:solidFill>
              <a:srgbClr val="F1F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9" name="Rectangle 65"/>
            <p:cNvSpPr>
              <a:spLocks noChangeArrowheads="1"/>
            </p:cNvSpPr>
            <p:nvPr/>
          </p:nvSpPr>
          <p:spPr bwMode="auto">
            <a:xfrm>
              <a:off x="5897563" y="4773613"/>
              <a:ext cx="671513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0,6 m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9" name="Gruppieren 88"/>
          <p:cNvGrpSpPr/>
          <p:nvPr/>
        </p:nvGrpSpPr>
        <p:grpSpPr>
          <a:xfrm>
            <a:off x="5805488" y="5081588"/>
            <a:ext cx="2476500" cy="641350"/>
            <a:chOff x="5805488" y="5081588"/>
            <a:chExt cx="2476500" cy="641350"/>
          </a:xfrm>
        </p:grpSpPr>
        <p:sp>
          <p:nvSpPr>
            <p:cNvPr id="32" name="Rectangle 28"/>
            <p:cNvSpPr>
              <a:spLocks noChangeArrowheads="1"/>
            </p:cNvSpPr>
            <p:nvPr/>
          </p:nvSpPr>
          <p:spPr bwMode="auto">
            <a:xfrm>
              <a:off x="5805488" y="5081588"/>
              <a:ext cx="2476500" cy="641350"/>
            </a:xfrm>
            <a:prstGeom prst="rect">
              <a:avLst/>
            </a:prstGeom>
            <a:solidFill>
              <a:srgbClr val="E2F4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3" name="Rectangle 69"/>
            <p:cNvSpPr>
              <a:spLocks noChangeArrowheads="1"/>
            </p:cNvSpPr>
            <p:nvPr/>
          </p:nvSpPr>
          <p:spPr bwMode="auto">
            <a:xfrm>
              <a:off x="5897563" y="5143501"/>
              <a:ext cx="671513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0,0 m</a:t>
              </a:r>
              <a:endPara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470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Gefahren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hteck 2"/>
          <p:cNvSpPr/>
          <p:nvPr/>
        </p:nvSpPr>
        <p:spPr>
          <a:xfrm>
            <a:off x="2567284" y="3284984"/>
            <a:ext cx="400943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4400" b="1" dirty="0">
                <a:latin typeface="LMSans10-Bold"/>
              </a:rPr>
              <a:t>GPS-Spoofing</a:t>
            </a:r>
            <a:endParaRPr lang="de-DE" sz="4400" dirty="0"/>
          </a:p>
        </p:txBody>
      </p:sp>
    </p:spTree>
    <p:extLst>
      <p:ext uri="{BB962C8B-B14F-4D97-AF65-F5344CB8AC3E}">
        <p14:creationId xmlns:p14="http://schemas.microsoft.com/office/powerpoint/2010/main" val="133364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Gefahren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28" y="1752600"/>
            <a:ext cx="7597544" cy="438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40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Abbildungsverzeichnis</a:t>
            </a:r>
            <a:endParaRPr lang="de-DE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827584" y="1752600"/>
            <a:ext cx="7783016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Seite 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de-DE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Auge </a:t>
            </a: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– http://www.macanvas.de/portfolio/auge</a:t>
            </a:r>
            <a:endParaRPr lang="de-DE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Ohr </a:t>
            </a: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– http://www.realschulebadkissingen.de/joomla16/index.php/soziales-miteinander/2-uncategorised/56-offenes-ohr2</a:t>
            </a:r>
            <a:endParaRPr lang="de-DE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Blitz – https://www.allianzdeutschland.de/news/news-2012/02-07-12-risiko-blitz-tipps-zum-schutz-und-hinweise-zu-versicher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Seite </a:t>
            </a:r>
            <a:r>
              <a:rPr 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7/8</a:t>
            </a: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Funkmast – </a:t>
            </a: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http://</a:t>
            </a:r>
            <a:r>
              <a:rPr lang="de-DE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www.riedberg.de/de/riedberg/aktuelles/artikel/afn-sendestation-wird-abgeschaltet.html</a:t>
            </a: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Auto </a:t>
            </a:r>
            <a:r>
              <a:rPr lang="de-DE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–  </a:t>
            </a: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http://www.clipartsfree.de/clipart-bilder-galerie/auto-cartoons/auto-clipart-kostenlos-779.html#.VGt5M8ntsvg</a:t>
            </a:r>
            <a:endParaRPr lang="de-DE" sz="1100" dirty="0" smtClean="0">
              <a:latin typeface="Arial" panose="020B0604020202020204" pitchFamily="34" charset="0"/>
              <a:cs typeface="Arial" panose="020B0604020202020204" pitchFamily="34" charset="0"/>
              <a:hlinkClick r:id="rId3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Seite </a:t>
            </a:r>
            <a:r>
              <a:rPr 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Satelliten - GPS </a:t>
            </a: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und GNSS: Grundlagen </a:t>
            </a:r>
            <a:r>
              <a:rPr lang="de-DE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der Ortung </a:t>
            </a: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und Navigation mit </a:t>
            </a:r>
            <a:r>
              <a:rPr lang="de-DE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Satelliten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Seite </a:t>
            </a:r>
            <a:r>
              <a:rPr 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http://www.gps.gov/systems/gps/</a:t>
            </a:r>
            <a:endParaRPr lang="de-DE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Seite 14 – 25</a:t>
            </a: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GPS und GNSS: Grundlagen </a:t>
            </a:r>
            <a:r>
              <a:rPr lang="de-DE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der Ortung </a:t>
            </a: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und Navigation mit </a:t>
            </a:r>
            <a:r>
              <a:rPr lang="de-DE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Satelliten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Seite </a:t>
            </a:r>
            <a:r>
              <a:rPr 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sz="1100">
                <a:latin typeface="Arial" panose="020B0604020202020204" pitchFamily="34" charset="0"/>
                <a:cs typeface="Arial" panose="020B0604020202020204" pitchFamily="34" charset="0"/>
              </a:rPr>
              <a:t>Programmierung eines GPS Signalgenerators für Spoofing-Tests</a:t>
            </a:r>
          </a:p>
          <a:p>
            <a:pPr lvl="1"/>
            <a:endParaRPr lang="de-DE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Symbol" panose="05050102010706020507" pitchFamily="18" charset="2"/>
              <a:buChar char="-"/>
            </a:pPr>
            <a:endParaRPr lang="de-D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19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altLang="de-DE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Quellenverzeichnis</a:t>
            </a:r>
            <a:endParaRPr lang="de-DE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58200" y="6553200"/>
            <a:ext cx="152400" cy="304800"/>
          </a:xfrm>
          <a:prstGeom prst="rect">
            <a:avLst/>
          </a:prstGeom>
          <a:solidFill>
            <a:srgbClr val="F580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092280" y="6525344"/>
            <a:ext cx="1905000" cy="457200"/>
          </a:xfrm>
        </p:spPr>
        <p:txBody>
          <a:bodyPr/>
          <a:lstStyle/>
          <a:p>
            <a:r>
              <a:rPr lang="de-DE" alt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827584" y="1752600"/>
            <a:ext cx="7783016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Programmierung eines </a:t>
            </a:r>
            <a:r>
              <a:rPr 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GPS Signalgenerators für Spoofing-Tests</a:t>
            </a:r>
          </a:p>
          <a:p>
            <a:pPr lvl="1"/>
            <a:r>
              <a:rPr lang="de-DE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Bachelorarbeit – Johannes Metz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Die Mathematik des GPS</a:t>
            </a:r>
            <a:endParaRPr lang="de-DE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MNU Tagung </a:t>
            </a:r>
            <a:r>
              <a:rPr lang="de-DE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Bremerhaven – Richard Rascher-Friesenhausen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GPS und GNSS: Grundlagen </a:t>
            </a:r>
            <a:r>
              <a:rPr 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der Ortung 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und Navigation mit Satelliten</a:t>
            </a:r>
          </a:p>
          <a:p>
            <a:pPr lvl="1"/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Jean-Marie </a:t>
            </a:r>
            <a:r>
              <a:rPr lang="de-DE" sz="11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Zogg</a:t>
            </a:r>
            <a:endParaRPr lang="de-DE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GPS.GOV – Offizielle Seite der U.S. Regierung</a:t>
            </a: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http://www.gps.gov/systems/gps</a:t>
            </a:r>
            <a:r>
              <a:rPr lang="de-DE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Wikipedia.de – Galileo (Satellitennavigation</a:t>
            </a:r>
            <a:r>
              <a:rPr 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Wikipedia.de – </a:t>
            </a:r>
            <a:r>
              <a:rPr lang="de-D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GLONASS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Wikipedia.de –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Beidou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(Satellitennavigation)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de-D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256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1130</Words>
  <Application>Microsoft Office PowerPoint</Application>
  <PresentationFormat>Bildschirmpräsentation (4:3)</PresentationFormat>
  <Paragraphs>309</Paragraphs>
  <Slides>32</Slides>
  <Notes>31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32</vt:i4>
      </vt:variant>
    </vt:vector>
  </HeadingPairs>
  <TitlesOfParts>
    <vt:vector size="42" baseType="lpstr">
      <vt:lpstr>Arial</vt:lpstr>
      <vt:lpstr>Calibri</vt:lpstr>
      <vt:lpstr>Cambria Math</vt:lpstr>
      <vt:lpstr>Frutiger 45 Light</vt:lpstr>
      <vt:lpstr>LMSans10-Bold</vt:lpstr>
      <vt:lpstr>Symbol</vt:lpstr>
      <vt:lpstr>Times New Roman</vt:lpstr>
      <vt:lpstr>Wingdings</vt:lpstr>
      <vt:lpstr>Standarddesign</vt:lpstr>
      <vt:lpstr>Image</vt:lpstr>
      <vt:lpstr>PowerPoint-Präsentation</vt:lpstr>
      <vt:lpstr>PowerPoint-Präsentation</vt:lpstr>
      <vt:lpstr>Die Systeme</vt:lpstr>
      <vt:lpstr>Die Systeme</vt:lpstr>
      <vt:lpstr>GPS</vt:lpstr>
      <vt:lpstr>Positionsberechnung</vt:lpstr>
      <vt:lpstr>Positionsberechnung</vt:lpstr>
      <vt:lpstr>Positionsberechnung</vt:lpstr>
      <vt:lpstr>Positionsberechnung</vt:lpstr>
      <vt:lpstr>Positionsberechnung</vt:lpstr>
      <vt:lpstr>Positionsberechnung</vt:lpstr>
      <vt:lpstr>Positionsberechnung</vt:lpstr>
      <vt:lpstr>Das System GPS</vt:lpstr>
      <vt:lpstr>Weltraumsegment</vt:lpstr>
      <vt:lpstr>Weltraumsegment</vt:lpstr>
      <vt:lpstr>Weltraumsegment</vt:lpstr>
      <vt:lpstr>Weltraumsegment</vt:lpstr>
      <vt:lpstr>Weltraumsegment</vt:lpstr>
      <vt:lpstr>Weltraumsegment</vt:lpstr>
      <vt:lpstr>Kontrollsegment</vt:lpstr>
      <vt:lpstr>Kontrollsegment</vt:lpstr>
      <vt:lpstr>Benutzersegment</vt:lpstr>
      <vt:lpstr>Benutzersegment</vt:lpstr>
      <vt:lpstr>Benutzersegment</vt:lpstr>
      <vt:lpstr>Benutzersegment</vt:lpstr>
      <vt:lpstr>Benutzersegment</vt:lpstr>
      <vt:lpstr>Benutzersegment</vt:lpstr>
      <vt:lpstr>Fehlerquellen</vt:lpstr>
      <vt:lpstr>Gefahren</vt:lpstr>
      <vt:lpstr>Gefahren</vt:lpstr>
      <vt:lpstr>Abbildungsverzeichnis</vt:lpstr>
      <vt:lpstr>Quellenverzeichnis</vt:lpstr>
    </vt:vector>
  </TitlesOfParts>
  <Company>Universität der Bundeswehr München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r31dzoe</dc:creator>
  <cp:lastModifiedBy>Christian Merath</cp:lastModifiedBy>
  <cp:revision>85</cp:revision>
  <cp:lastPrinted>2014-11-13T08:36:44Z</cp:lastPrinted>
  <dcterms:created xsi:type="dcterms:W3CDTF">2005-05-20T10:20:22Z</dcterms:created>
  <dcterms:modified xsi:type="dcterms:W3CDTF">2014-12-02T14:11:20Z</dcterms:modified>
</cp:coreProperties>
</file>